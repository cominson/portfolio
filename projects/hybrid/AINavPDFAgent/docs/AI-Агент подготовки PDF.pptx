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12192000" cy="6858000"/>
  <p:defaultTextStyle>
    <a:defPPr>
      <a:defRPr lang="en-US"/>
    </a:defPPr>
    <a:lvl1pPr marL="0" algn="l" defTabSz="4572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  <a:fill>
          <a:solidFill>
            <a:schemeClr val="accent1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94" y="108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Титу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auto"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auto"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8194D43-8C74-4BBF-9DB1-3C93ABE18D11}" type="datetimeFigureOut">
              <a:rPr lang="ru-RU"/>
              <a:t>10.11.2025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33118A-9C8D-4767-86AD-2A140722FDA6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8194D43-8C74-4BBF-9DB1-3C93ABE18D11}" type="datetimeFigureOut">
              <a:rPr lang="ru-RU"/>
              <a:t>10.11.2025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33118A-9C8D-4767-86AD-2A140722FDA6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8194D43-8C74-4BBF-9DB1-3C93ABE18D11}" type="datetimeFigureOut">
              <a:rPr lang="ru-RU"/>
              <a:t>10.11.2025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33118A-9C8D-4767-86AD-2A140722FDA6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913795" y="609600"/>
            <a:ext cx="10353761" cy="1326321"/>
          </a:xfrm>
        </p:spPr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913795" y="2088319"/>
            <a:ext cx="5106004" cy="3702881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3403" y="2088319"/>
            <a:ext cx="5094154" cy="3702881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8194D43-8C74-4BBF-9DB1-3C93ABE18D11}" type="datetimeFigureOut">
              <a:rPr lang="ru-RU"/>
              <a:t>10.11.2025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33118A-9C8D-4767-86AD-2A140722FDA6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913795" y="609600"/>
            <a:ext cx="10353761" cy="1325563"/>
          </a:xfrm>
        </p:spPr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913795" y="2912232"/>
            <a:ext cx="5107208" cy="287896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402003" y="2088320"/>
            <a:ext cx="4865553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912232"/>
            <a:ext cx="5095357" cy="287896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8194D43-8C74-4BBF-9DB1-3C93ABE18D11}" type="datetimeFigureOut">
              <a:rPr lang="ru-RU"/>
              <a:t>10.11.2025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33118A-9C8D-4767-86AD-2A140722FDA6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Только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8194D43-8C74-4BBF-9DB1-3C93ABE18D11}" type="datetimeFigureOut">
              <a:rPr lang="ru-RU"/>
              <a:t>10.11.2025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33118A-9C8D-4767-86AD-2A140722FDA6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8194D43-8C74-4BBF-9DB1-3C93ABE18D11}" type="datetimeFigureOut">
              <a:rPr lang="ru-RU"/>
              <a:t>10.11.2025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33118A-9C8D-4767-86AD-2A140722FDA6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917228" y="609600"/>
            <a:ext cx="3932237" cy="2362199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>
          <a:xfrm>
            <a:off x="5078064" y="609600"/>
            <a:ext cx="6189492" cy="5181600"/>
          </a:xfrm>
        </p:spPr>
        <p:txBody>
          <a:bodyPr anchor="ctr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8194D43-8C74-4BBF-9DB1-3C93ABE18D11}" type="datetimeFigureOut">
              <a:rPr lang="ru-RU"/>
              <a:t>10.11.2025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33118A-9C8D-4767-86AD-2A140722FDA6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917227" y="609600"/>
            <a:ext cx="5929773" cy="2362199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 bwMode="auto">
          <a:xfrm>
            <a:off x="7424804" y="758881"/>
            <a:ext cx="3255356" cy="4883038"/>
          </a:xfrm>
          <a:prstGeom prst="rect">
            <a:avLst/>
          </a:prstGeo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ru-RU"/>
              <a:t>Вставка рисунка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8194D43-8C74-4BBF-9DB1-3C93ABE18D11}" type="datetimeFigureOut">
              <a:rPr lang="ru-RU"/>
              <a:t>10.11.2025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33118A-9C8D-4767-86AD-2A140722FDA6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Панорамная фотография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 bwMode="auto">
          <a:xfrm>
            <a:off x="913806" y="621321"/>
            <a:ext cx="10367564" cy="3379735"/>
          </a:xfrm>
          <a:prstGeom prst="rect">
            <a:avLst/>
          </a:prstGeo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ru-RU"/>
              <a:t>Вставка рисунка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8194D43-8C74-4BBF-9DB1-3C93ABE18D11}" type="datetimeFigureOut">
              <a:rPr lang="ru-RU"/>
              <a:t>10.11.2025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33118A-9C8D-4767-86AD-2A140722FDA6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Заголовок и подпись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913795" y="609600"/>
            <a:ext cx="10353761" cy="3424859"/>
          </a:xfrm>
        </p:spPr>
        <p:txBody>
          <a:bodyPr anchor="ctr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8194D43-8C74-4BBF-9DB1-3C93ABE18D11}" type="datetimeFigureOut">
              <a:rPr lang="ru-RU"/>
              <a:t>10.11.2025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33118A-9C8D-4767-86AD-2A140722FDA6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Цитата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 bwMode="auto">
          <a:xfrm>
            <a:off x="1720644" y="3610032"/>
            <a:ext cx="8752299" cy="426811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913794" y="4204821"/>
            <a:ext cx="10353761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8194D43-8C74-4BBF-9DB1-3C93ABE18D11}" type="datetimeFigureOut">
              <a:rPr lang="ru-RU"/>
              <a:t>10.11.2025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33118A-9C8D-4767-86AD-2A140722FDA6}" type="slidenum">
              <a:rPr lang="ru-RU"/>
              <a:t>‹#›</a:t>
            </a:fld>
            <a:endParaRPr lang="ru-RU"/>
          </a:p>
        </p:txBody>
      </p:sp>
      <p:sp>
        <p:nvSpPr>
          <p:cNvPr id="11" name="TextBox 10"/>
          <p:cNvSpPr txBox="1"/>
          <p:nvPr/>
        </p:nvSpPr>
        <p:spPr bwMode="auto">
          <a:xfrm>
            <a:off x="836612" y="735241"/>
            <a:ext cx="609600" cy="5847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ts val="0"/>
              </a:spcBef>
              <a:buNone/>
              <a:defRPr sz="3200" b="0" cap="all">
                <a:ln w="3175" cmpd="sng">
                  <a:noFill/>
                </a:ln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>
              <a:defRPr/>
            </a:pPr>
            <a:r>
              <a:rPr lang="en-US" sz="8000">
                <a:solidFill>
                  <a:schemeClr val="tx1"/>
                </a:solidFill>
              </a:rPr>
              <a:t>“</a:t>
            </a:r>
            <a:endParaRPr/>
          </a:p>
        </p:txBody>
      </p:sp>
      <p:sp>
        <p:nvSpPr>
          <p:cNvPr id="13" name="TextBox 12"/>
          <p:cNvSpPr txBox="1"/>
          <p:nvPr/>
        </p:nvSpPr>
        <p:spPr bwMode="auto">
          <a:xfrm>
            <a:off x="10657956" y="2972093"/>
            <a:ext cx="609600" cy="5847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ts val="0"/>
              </a:spcBef>
              <a:buNone/>
              <a:defRPr sz="3200" b="0" cap="all">
                <a:ln w="3175" cmpd="sng">
                  <a:noFill/>
                </a:ln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>
              <a:defRPr/>
            </a:pPr>
            <a:r>
              <a:rPr lang="en-US" sz="8000">
                <a:solidFill>
                  <a:schemeClr val="tx1"/>
                </a:solidFill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Карточка имен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8194D43-8C74-4BBF-9DB1-3C93ABE18D11}" type="datetimeFigureOut">
              <a:rPr lang="ru-RU"/>
              <a:t>10.11.2025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33118A-9C8D-4767-86AD-2A140722FDA6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Три колонк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 bwMode="auto">
          <a:xfrm>
            <a:off x="913794" y="609600"/>
            <a:ext cx="10353761" cy="1325563"/>
          </a:xfrm>
        </p:spPr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 bwMode="auto"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 bwMode="auto"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 bwMode="auto"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 bwMode="auto"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8194D43-8C74-4BBF-9DB1-3C93ABE18D11}" type="datetimeFigureOut">
              <a:rPr lang="ru-RU"/>
              <a:t>10.11.2025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33118A-9C8D-4767-86AD-2A140722FDA6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толбец с тремя рисункам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 bwMode="auto">
          <a:xfrm>
            <a:off x="913795" y="609600"/>
            <a:ext cx="10353761" cy="1325563"/>
          </a:xfrm>
        </p:spPr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 bwMode="auto"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>
              <a:defRPr/>
            </a:pPr>
            <a:r>
              <a:rPr lang="ru-RU"/>
              <a:t>Вставка рисунка</a:t>
            </a:r>
            <a:endParaRPr lang="en-US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 bwMode="auto"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 bwMode="auto"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>
              <a:defRPr/>
            </a:pPr>
            <a:r>
              <a:rPr lang="ru-RU"/>
              <a:t>Вставка рисунка</a:t>
            </a:r>
            <a:endParaRPr lang="en-US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 bwMode="auto"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 bwMode="auto"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 bwMode="auto"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>
              <a:defRPr/>
            </a:pPr>
            <a:r>
              <a:rPr lang="ru-RU"/>
              <a:t>Вставка рисунка</a:t>
            </a:r>
            <a:endParaRPr lang="en-US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 bwMode="auto"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8194D43-8C74-4BBF-9DB1-3C93ABE18D11}" type="datetimeFigureOut">
              <a:rPr lang="ru-RU"/>
              <a:t>10.11.2025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33118A-9C8D-4767-86AD-2A140722FDA6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Заголовок и вертикальный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8194D43-8C74-4BBF-9DB1-3C93ABE18D11}" type="datetimeFigureOut">
              <a:rPr lang="ru-RU"/>
              <a:t>10.11.2025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33118A-9C8D-4767-86AD-2A140722FDA6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Вертикальный заголовок и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913794" y="609599"/>
            <a:ext cx="7658705" cy="5181601"/>
          </a:xfrm>
        </p:spPr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8194D43-8C74-4BBF-9DB1-3C93ABE18D11}" type="datetimeFigureOut">
              <a:rPr lang="ru-RU"/>
              <a:t>10.11.2025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33118A-9C8D-4767-86AD-2A140722FDA6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913795" y="2096063"/>
            <a:ext cx="10353761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8194D43-8C74-4BBF-9DB1-3C93ABE18D11}" type="datetimeFigureOut">
              <a:rPr lang="ru-RU"/>
              <a:t>10.11.2025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10514010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133118A-9C8D-4767-86AD-2A140722FDA6}" type="slidenum">
              <a:rPr lang="ru-RU"/>
              <a:t>‹#›</a:t>
            </a:fld>
            <a:endParaRPr lang="ru-RU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ctr" defTabSz="914400">
        <a:lnSpc>
          <a:spcPct val="90000"/>
        </a:lnSpc>
        <a:spcBef>
          <a:spcPts val="0"/>
        </a:spcBef>
        <a:buNone/>
        <a:defRPr sz="3400" b="1" i="0" cap="all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120000"/>
        </a:lnSpc>
        <a:spcBef>
          <a:spcPts val="10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12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120000"/>
        </a:lnSpc>
        <a:spcBef>
          <a:spcPts val="500"/>
        </a:spcBef>
        <a:buFont typeface="Arial"/>
        <a:buChar char="•"/>
        <a:defRPr sz="16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120000"/>
        </a:lnSpc>
        <a:spcBef>
          <a:spcPts val="500"/>
        </a:spcBef>
        <a:buFont typeface="Arial"/>
        <a:buChar char="•"/>
        <a:defRPr sz="14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120000"/>
        </a:lnSpc>
        <a:spcBef>
          <a:spcPts val="500"/>
        </a:spcBef>
        <a:buFont typeface="Arial"/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120000"/>
        </a:lnSpc>
        <a:spcBef>
          <a:spcPts val="500"/>
        </a:spcBef>
        <a:buFont typeface="Arial"/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120000"/>
        </a:lnSpc>
        <a:spcBef>
          <a:spcPts val="500"/>
        </a:spcBef>
        <a:buFont typeface="Arial"/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120000"/>
        </a:lnSpc>
        <a:spcBef>
          <a:spcPts val="500"/>
        </a:spcBef>
        <a:buFont typeface="Arial"/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120000"/>
        </a:lnSpc>
        <a:spcBef>
          <a:spcPts val="500"/>
        </a:spcBef>
        <a:buFont typeface="Arial"/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ru-RU" dirty="0"/>
              <a:t>AI-агент - умные </a:t>
            </a:r>
            <a:r>
              <a:rPr lang="ru-RU" dirty="0" err="1"/>
              <a:t>pdf</a:t>
            </a:r>
            <a:r>
              <a:rPr lang="ru-RU" dirty="0"/>
              <a:t>-выгрузки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m="http://schemas.openxmlformats.org/officeDocument/2006/math" xmlns:w="http://schemas.openxmlformats.org/wordprocessingml/2006/main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983461" y="175510"/>
            <a:ext cx="10353761" cy="1326321"/>
          </a:xfrm>
        </p:spPr>
        <p:txBody>
          <a:bodyPr/>
          <a:lstStyle/>
          <a:p>
            <a:pPr>
              <a:defRPr/>
            </a:pPr>
            <a:r>
              <a:rPr lang="ru-RU"/>
              <a:t>Коротко о главном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983459" y="1819444"/>
            <a:ext cx="10353761" cy="1427257"/>
          </a:xfrm>
        </p:spPr>
        <p:txBody>
          <a:bodyPr>
            <a:noAutofit/>
          </a:bodyPr>
          <a:lstStyle/>
          <a:p>
            <a:pPr marL="0" indent="0">
              <a:buNone/>
              <a:defRPr/>
            </a:pPr>
            <a:r>
              <a:rPr lang="ru-RU" sz="1200" b="1" u="sng"/>
              <a:t>Проблема</a:t>
            </a:r>
            <a:r>
              <a:rPr lang="en-US" sz="1200" b="1" u="sng"/>
              <a:t>:</a:t>
            </a:r>
            <a:endParaRPr/>
          </a:p>
          <a:p>
            <a:pPr>
              <a:defRPr/>
            </a:pPr>
            <a:r>
              <a:rPr lang="ru-RU" sz="1200"/>
              <a:t>Отсутствует возможность сделать </a:t>
            </a:r>
            <a:r>
              <a:rPr lang="en-US" sz="1200"/>
              <a:t>PDF</a:t>
            </a:r>
            <a:r>
              <a:rPr lang="ru-RU" sz="1200"/>
              <a:t>-страниц</a:t>
            </a:r>
            <a:r>
              <a:rPr lang="en-US" sz="1200"/>
              <a:t>;</a:t>
            </a:r>
            <a:endParaRPr/>
          </a:p>
          <a:p>
            <a:pPr>
              <a:defRPr/>
            </a:pPr>
            <a:r>
              <a:rPr lang="ru-RU" sz="1200"/>
              <a:t>Нет инструмента формирования быстрых </a:t>
            </a:r>
            <a:r>
              <a:rPr lang="en-US" sz="1200"/>
              <a:t>PDF-</a:t>
            </a:r>
            <a:r>
              <a:rPr lang="ru-RU" sz="1200"/>
              <a:t>презентаций</a:t>
            </a:r>
            <a:r>
              <a:rPr lang="en-US" sz="1200"/>
              <a:t>;</a:t>
            </a:r>
          </a:p>
          <a:p>
            <a:pPr>
              <a:defRPr/>
            </a:pPr>
            <a:r>
              <a:rPr lang="en-US" sz="1200"/>
              <a:t>Нет инструмента “сборки” разных дешбордов в один PDF-объект</a:t>
            </a:r>
            <a:endParaRPr/>
          </a:p>
          <a:p>
            <a:pPr>
              <a:defRPr/>
            </a:pPr>
            <a:endParaRPr lang="en-US" sz="1200"/>
          </a:p>
        </p:txBody>
      </p:sp>
      <p:sp>
        <p:nvSpPr>
          <p:cNvPr id="4" name="Объект 2"/>
          <p:cNvSpPr txBox="1"/>
          <p:nvPr/>
        </p:nvSpPr>
        <p:spPr bwMode="auto">
          <a:xfrm>
            <a:off x="983459" y="3319235"/>
            <a:ext cx="11061329" cy="17392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Font typeface="Arial"/>
              <a:buChar char="•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Font typeface="Arial"/>
              <a:buChar char="•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Font typeface="Arial"/>
              <a:buChar char="•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Font typeface="Arial"/>
              <a:buChar char="•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Font typeface="Arial"/>
              <a:buChar char="•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Font typeface="Arial"/>
              <a:buChar char="•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Font typeface="Arial"/>
              <a:buChar char="•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  <a:defRPr/>
            </a:pPr>
            <a:r>
              <a:rPr lang="ru-RU" sz="1200" b="1" u="sng"/>
              <a:t>Результат работы агента</a:t>
            </a:r>
            <a:r>
              <a:rPr lang="en-US" sz="1200" b="1" u="sng"/>
              <a:t>:</a:t>
            </a:r>
            <a:endParaRPr lang="ru-RU" sz="1200" b="1" u="sng"/>
          </a:p>
          <a:p>
            <a:pPr>
              <a:defRPr/>
            </a:pPr>
            <a:r>
              <a:rPr lang="ru-RU" sz="1200"/>
              <a:t>Пользователь в любой момент может получить </a:t>
            </a:r>
            <a:r>
              <a:rPr lang="en-US" sz="1200"/>
              <a:t>PDF</a:t>
            </a:r>
            <a:r>
              <a:rPr lang="ru-RU" sz="1200"/>
              <a:t> в нужном порядке, виде, с нужными ему фильтрами</a:t>
            </a:r>
            <a:r>
              <a:rPr lang="en-US" sz="1200"/>
              <a:t>;</a:t>
            </a:r>
            <a:endParaRPr/>
          </a:p>
          <a:p>
            <a:pPr>
              <a:defRPr/>
            </a:pPr>
            <a:r>
              <a:rPr lang="ru-RU" sz="1200"/>
              <a:t>Низкие риски срыва сроков подготовки презентаций</a:t>
            </a:r>
            <a:r>
              <a:rPr lang="en-US" sz="1200"/>
              <a:t>;</a:t>
            </a:r>
            <a:endParaRPr lang="ru-RU" sz="1200"/>
          </a:p>
          <a:p>
            <a:pPr>
              <a:defRPr/>
            </a:pPr>
            <a:r>
              <a:rPr lang="ru-RU" sz="1200"/>
              <a:t>Появляется возможность историчности по дешборду (PDF-версии)</a:t>
            </a:r>
            <a:r>
              <a:rPr lang="en-US" sz="1200"/>
              <a:t>;</a:t>
            </a:r>
            <a:endParaRPr lang="ru-RU" sz="1200"/>
          </a:p>
          <a:p>
            <a:pPr>
              <a:defRPr/>
            </a:pPr>
            <a:r>
              <a:rPr lang="ru-RU" sz="1200"/>
              <a:t>Пользователь может создавать шаблоны-комбинации выгрузок и быстро обращаться к этим шаблонам, комбинировать разные дешборды, страницы и т.д.</a:t>
            </a:r>
          </a:p>
        </p:txBody>
      </p:sp>
      <p:sp>
        <p:nvSpPr>
          <p:cNvPr id="7" name="Объект 2"/>
          <p:cNvSpPr txBox="1"/>
          <p:nvPr/>
        </p:nvSpPr>
        <p:spPr bwMode="auto">
          <a:xfrm>
            <a:off x="983461" y="1076195"/>
            <a:ext cx="10353761" cy="57080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Font typeface="Arial"/>
              <a:buChar char="•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Font typeface="Arial"/>
              <a:buChar char="•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Font typeface="Arial"/>
              <a:buChar char="•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Font typeface="Arial"/>
              <a:buChar char="•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Font typeface="Arial"/>
              <a:buChar char="•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Font typeface="Arial"/>
              <a:buChar char="•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Font typeface="Arial"/>
              <a:buChar char="•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  <a:defRPr/>
            </a:pPr>
            <a:r>
              <a:rPr lang="ru-RU" sz="1200" b="1" u="sng"/>
              <a:t>Категория пользователей</a:t>
            </a:r>
            <a:r>
              <a:rPr lang="en-US" sz="1200" b="1" u="sng"/>
              <a:t>:</a:t>
            </a:r>
            <a:endParaRPr/>
          </a:p>
          <a:p>
            <a:pPr marL="0" indent="0">
              <a:buNone/>
              <a:defRPr/>
            </a:pPr>
            <a:r>
              <a:rPr lang="ru-RU" sz="1200"/>
              <a:t>Пользователи дешбордов Навигатора</a:t>
            </a:r>
            <a:endParaRPr/>
          </a:p>
        </p:txBody>
      </p:sp>
      <p:sp>
        <p:nvSpPr>
          <p:cNvPr id="8" name="Объект 2"/>
          <p:cNvSpPr txBox="1"/>
          <p:nvPr/>
        </p:nvSpPr>
        <p:spPr bwMode="auto">
          <a:xfrm>
            <a:off x="983459" y="5239908"/>
            <a:ext cx="10353761" cy="14464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Font typeface="Arial"/>
              <a:buChar char="•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Font typeface="Arial"/>
              <a:buChar char="•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Font typeface="Arial"/>
              <a:buChar char="•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Font typeface="Arial"/>
              <a:buChar char="•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Font typeface="Arial"/>
              <a:buChar char="•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Font typeface="Arial"/>
              <a:buChar char="•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Font typeface="Arial"/>
              <a:buChar char="•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200" b="1" u="sng"/>
              <a:t>Как работает</a:t>
            </a:r>
            <a:r>
              <a:rPr lang="en-US" sz="1200" b="1" u="sng"/>
              <a:t>:</a:t>
            </a:r>
            <a:endParaRPr lang="ru-RU" sz="1200" b="1" u="sng"/>
          </a:p>
          <a:p>
            <a:pPr>
              <a:defRPr/>
            </a:pPr>
            <a:r>
              <a:rPr lang="ru-RU" sz="1200"/>
              <a:t>Пользователь пишет на почтовый адрес </a:t>
            </a:r>
            <a:r>
              <a:rPr lang="en-US" sz="1200"/>
              <a:t>`info_shtab_ub@sberbank.ru`</a:t>
            </a:r>
            <a:r>
              <a:rPr lang="ru-RU" sz="1200"/>
              <a:t> свой запрос</a:t>
            </a:r>
            <a:r>
              <a:rPr lang="en-US" sz="1200"/>
              <a:t>;</a:t>
            </a:r>
            <a:endParaRPr/>
          </a:p>
          <a:p>
            <a:pPr>
              <a:defRPr/>
            </a:pPr>
            <a:r>
              <a:rPr lang="ru-RU" sz="1200"/>
              <a:t>Получает </a:t>
            </a:r>
            <a:r>
              <a:rPr lang="en-US" sz="1200"/>
              <a:t>PDF</a:t>
            </a:r>
            <a:r>
              <a:rPr lang="ru-RU" sz="1200"/>
              <a:t> в ответном письме</a:t>
            </a:r>
          </a:p>
          <a:p>
            <a:pPr>
              <a:defRPr/>
            </a:pPr>
            <a:r>
              <a:rPr lang="en-US" sz="1200"/>
              <a:t>Пользователь может комбинировать разные дешборды в один PDF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m="http://schemas.openxmlformats.org/officeDocument/2006/math" xmlns:w="http://schemas.openxmlformats.org/wordprocessingml/2006/main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Текущая функциональность агента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913795" y="2096063"/>
            <a:ext cx="11016948" cy="3695136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 fontScale="90000" lnSpcReduction="20000"/>
          </a:bodyPr>
          <a:lstStyle/>
          <a:p>
            <a:pPr marL="0" indent="0">
              <a:buNone/>
              <a:defRPr/>
            </a:pPr>
            <a:r>
              <a:rPr lang="ru-RU" dirty="0"/>
              <a:t>1) Формирование PDF по предоставленным ссылкам:</a:t>
            </a:r>
            <a:endParaRPr dirty="0"/>
          </a:p>
          <a:p>
            <a:pPr lvl="1">
              <a:defRPr/>
            </a:pPr>
            <a:r>
              <a:rPr lang="ru-RU" dirty="0"/>
              <a:t>Вар1. Сотрудник пишет на почтовый адрес `info_shtab_ub@sberbank.ru` запрос с просьбой сделать PDF по ссылке или нескольким ссылкам (дополнительно можно попросить сделать в режиме </a:t>
            </a:r>
            <a:r>
              <a:rPr lang="ru-RU" dirty="0" err="1"/>
              <a:t>предпросмотра</a:t>
            </a:r>
            <a:r>
              <a:rPr lang="ru-RU" dirty="0"/>
              <a:t>);</a:t>
            </a:r>
          </a:p>
          <a:p>
            <a:pPr lvl="1">
              <a:defRPr/>
            </a:pPr>
            <a:r>
              <a:rPr lang="ru-RU" dirty="0"/>
              <a:t>Вар2. Из </a:t>
            </a:r>
            <a:r>
              <a:rPr lang="ru-RU" dirty="0" err="1"/>
              <a:t>дешборда</a:t>
            </a:r>
            <a:r>
              <a:rPr lang="ru-RU" dirty="0"/>
              <a:t> Навигатора Пользователь нажимает кнопку для формирования сообщения на почтовый адрес</a:t>
            </a:r>
            <a:r>
              <a:rPr lang="ru-RU" sz="1800" b="0" i="0" u="none" strike="noStrike" cap="none" spc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`info_shtab_ub@sberbank.ru`</a:t>
            </a:r>
            <a:r>
              <a:rPr lang="ru-RU" sz="1800" b="0" i="0" u="none" strike="noStrike" cap="none" spc="0" dirty="0">
                <a:solidFill>
                  <a:schemeClr val="tx1"/>
                </a:solidFill>
                <a:latin typeface="Rockwell"/>
                <a:ea typeface="Arial"/>
                <a:cs typeface="Arial"/>
              </a:rPr>
              <a:t>, в сообщение автоматически вставляется ссылка-адрес на </a:t>
            </a:r>
            <a:r>
              <a:rPr lang="ru-RU" sz="1800" b="0" i="0" u="none" strike="noStrike" cap="none" spc="0" dirty="0" err="1">
                <a:solidFill>
                  <a:schemeClr val="tx1"/>
                </a:solidFill>
                <a:latin typeface="Rockwell"/>
                <a:ea typeface="Arial"/>
                <a:cs typeface="Arial"/>
              </a:rPr>
              <a:t>дешборд</a:t>
            </a:r>
            <a:r>
              <a:rPr lang="ru-RU" sz="1800" b="0" i="0" u="none" strike="noStrike" cap="none" spc="0" dirty="0">
                <a:solidFill>
                  <a:schemeClr val="tx1"/>
                </a:solidFill>
                <a:latin typeface="Rockwell"/>
                <a:ea typeface="Arial"/>
                <a:cs typeface="Arial"/>
              </a:rPr>
              <a:t> с установленными фильтрами, агрегацией и заданными трансформациями;</a:t>
            </a:r>
            <a:endParaRPr dirty="0"/>
          </a:p>
          <a:p>
            <a:pPr lvl="1">
              <a:defRPr/>
            </a:pPr>
            <a:r>
              <a:rPr lang="ru-RU" dirty="0"/>
              <a:t>Агент анализирует сообщение и формирует задачу на формирование PDF;</a:t>
            </a:r>
            <a:endParaRPr dirty="0"/>
          </a:p>
          <a:p>
            <a:pPr lvl="1">
              <a:defRPr/>
            </a:pPr>
            <a:r>
              <a:rPr lang="ru-RU" dirty="0"/>
              <a:t>Сформированный PDF отправляет заказчику;</a:t>
            </a:r>
            <a:endParaRPr dirty="0"/>
          </a:p>
          <a:p>
            <a:pPr marL="0" indent="0">
              <a:buNone/>
              <a:defRPr/>
            </a:pPr>
            <a:r>
              <a:rPr lang="ru-RU" dirty="0"/>
              <a:t>2) Мониторинг активных и отработанных задач через БД;</a:t>
            </a:r>
            <a:endParaRPr dirty="0"/>
          </a:p>
          <a:p>
            <a:pPr marL="0" indent="0">
              <a:buNone/>
              <a:defRPr/>
            </a:pPr>
            <a:r>
              <a:rPr lang="ru-RU" dirty="0"/>
              <a:t>3) Отработка задач в параллельном режиме (пока до 4 обращений </a:t>
            </a:r>
            <a:r>
              <a:rPr lang="ru-RU" dirty="0" smtClean="0"/>
              <a:t>одновременно)</a:t>
            </a:r>
            <a:r>
              <a:rPr lang="en-US" dirty="0" smtClean="0"/>
              <a:t>;</a:t>
            </a:r>
            <a:endParaRPr lang="ru-RU" dirty="0" smtClean="0"/>
          </a:p>
          <a:p>
            <a:pPr marL="0" indent="0">
              <a:buNone/>
              <a:defRPr/>
            </a:pPr>
            <a:r>
              <a:rPr lang="ru-RU" dirty="0" smtClean="0"/>
              <a:t>4) Добавлен </a:t>
            </a:r>
            <a:r>
              <a:rPr lang="en-US" dirty="0" err="1" smtClean="0"/>
              <a:t>WhiteList</a:t>
            </a:r>
            <a:r>
              <a:rPr lang="ru-RU" dirty="0" smtClean="0"/>
              <a:t> для ограничения доступа к агенту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m="http://schemas.openxmlformats.org/officeDocument/2006/math" xmlns:w="http://schemas.openxmlformats.org/wordprocessingml/2006/main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913794" y="0"/>
            <a:ext cx="10353761" cy="1326321"/>
          </a:xfrm>
        </p:spPr>
        <p:txBody>
          <a:bodyPr/>
          <a:lstStyle/>
          <a:p>
            <a:pPr>
              <a:defRPr/>
            </a:pPr>
            <a:r>
              <a:rPr lang="ru-RU"/>
              <a:t>Функциональность на доработку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521907" y="1047015"/>
            <a:ext cx="11252081" cy="5527955"/>
          </a:xfrm>
        </p:spPr>
        <p:txBody>
          <a:bodyPr>
            <a:noAutofit/>
          </a:bodyPr>
          <a:lstStyle/>
          <a:p>
            <a:pPr>
              <a:buAutoNum type="arabicParenR"/>
              <a:defRPr/>
            </a:pPr>
            <a:r>
              <a:rPr lang="ru-RU" sz="1200" dirty="0"/>
              <a:t>Работа с историей переписки, можно сохранять контекст прошлых заказов, объединять их, разделять агрегировать и т.д.</a:t>
            </a:r>
            <a:endParaRPr sz="2400" dirty="0"/>
          </a:p>
          <a:p>
            <a:pPr>
              <a:buFont typeface="+mj-lt"/>
              <a:buAutoNum type="arabicParenR"/>
              <a:defRPr/>
            </a:pPr>
            <a:r>
              <a:rPr lang="ru-RU" sz="1200" dirty="0" smtClean="0"/>
              <a:t>Шаблонные </a:t>
            </a:r>
            <a:r>
              <a:rPr lang="ru-RU" sz="1200" dirty="0"/>
              <a:t>выгрузки по запросу:</a:t>
            </a:r>
            <a:endParaRPr lang="en-US" sz="1200" dirty="0"/>
          </a:p>
          <a:p>
            <a:pPr lvl="1">
              <a:defRPr/>
            </a:pPr>
            <a:r>
              <a:rPr lang="ru-RU" sz="1200" dirty="0"/>
              <a:t>Сотрудник пишет агенту (через </a:t>
            </a:r>
            <a:r>
              <a:rPr lang="ru-RU" sz="1200" dirty="0" err="1"/>
              <a:t>Outlook</a:t>
            </a:r>
            <a:r>
              <a:rPr lang="ru-RU" sz="1200" dirty="0"/>
              <a:t>) - "Хочу сформировать шаблон";</a:t>
            </a:r>
            <a:endParaRPr lang="en-US" sz="1200" dirty="0"/>
          </a:p>
          <a:p>
            <a:pPr lvl="1">
              <a:defRPr/>
            </a:pPr>
            <a:r>
              <a:rPr lang="ru-RU" sz="1200" dirty="0"/>
              <a:t>Агент предлагает заполнить форму шаблона (в шаблоне будет название отчета (или группа отчетов - "Например: ОС УБ"), </a:t>
            </a:r>
            <a:endParaRPr lang="en-US" sz="1200" dirty="0"/>
          </a:p>
          <a:p>
            <a:pPr marL="457200" lvl="1" indent="0">
              <a:buNone/>
              <a:defRPr/>
            </a:pPr>
            <a:r>
              <a:rPr lang="ru-RU" sz="1200" dirty="0"/>
              <a:t>ссылки на страницы, короткое описание страниц (например - вкладка Свод раздела </a:t>
            </a:r>
            <a:r>
              <a:rPr lang="ru-RU" sz="1200" dirty="0" err="1"/>
              <a:t>Protection</a:t>
            </a:r>
            <a:r>
              <a:rPr lang="ru-RU" sz="1200" dirty="0"/>
              <a:t> показывает  все основные показатели направления)</a:t>
            </a:r>
            <a:r>
              <a:rPr lang="en-US" sz="1200" dirty="0"/>
              <a:t>.</a:t>
            </a:r>
            <a:endParaRPr sz="2000" dirty="0"/>
          </a:p>
          <a:p>
            <a:pPr lvl="1">
              <a:defRPr/>
            </a:pPr>
            <a:r>
              <a:rPr lang="ru-RU" sz="1200" dirty="0"/>
              <a:t>Шаблон отправляется обратно агенту (через </a:t>
            </a:r>
            <a:r>
              <a:rPr lang="ru-RU" sz="1200" dirty="0" err="1"/>
              <a:t>Outlook</a:t>
            </a:r>
            <a:r>
              <a:rPr lang="ru-RU" sz="1200" dirty="0"/>
              <a:t>);</a:t>
            </a:r>
            <a:endParaRPr lang="en-US" sz="1200" dirty="0"/>
          </a:p>
          <a:p>
            <a:pPr lvl="1">
              <a:defRPr/>
            </a:pPr>
            <a:r>
              <a:rPr lang="ru-RU" sz="1200" dirty="0"/>
              <a:t> Агент обрабатывает Шаблон и добавляет в базу отчетов (Сотруднику отправлено сообщение, что  шаблон добавлен);</a:t>
            </a:r>
            <a:endParaRPr lang="en-US" sz="1200" dirty="0"/>
          </a:p>
          <a:p>
            <a:pPr lvl="1">
              <a:defRPr/>
            </a:pPr>
            <a:r>
              <a:rPr lang="ru-RU" sz="1200" dirty="0"/>
              <a:t> Далее сотрудник в любой момент:</a:t>
            </a:r>
            <a:endParaRPr lang="en-US" sz="1200" dirty="0"/>
          </a:p>
          <a:p>
            <a:pPr lvl="2">
              <a:defRPr/>
            </a:pPr>
            <a:r>
              <a:rPr lang="ru-RU" sz="1200" dirty="0"/>
              <a:t>может написать агенту - "сделай мне PDF всей ОС УБ" = агент делает PDF по всем страницам ОС УБ;</a:t>
            </a:r>
            <a:endParaRPr lang="en-US" sz="1200" dirty="0"/>
          </a:p>
          <a:p>
            <a:pPr lvl="2">
              <a:defRPr/>
            </a:pPr>
            <a:r>
              <a:rPr lang="ru-RU" sz="1200" dirty="0"/>
              <a:t> может написать агенту - "сделай мне PDF ОС УБ только вкладок "СВОД" по каждому направлению" = агент делает PDF только по нужным ссылкам, исходя из описания</a:t>
            </a:r>
            <a:endParaRPr lang="en-US" sz="1200" dirty="0"/>
          </a:p>
          <a:p>
            <a:pPr lvl="2">
              <a:defRPr/>
            </a:pPr>
            <a:r>
              <a:rPr lang="ru-RU" sz="1200" dirty="0"/>
              <a:t> может написать агенту - "Присылай мне PDF всех страниц ОС УБ каждый день в 14 00" = агент ставит на расписание PDF и направляет строго по времени.</a:t>
            </a:r>
            <a:endParaRPr sz="1800" dirty="0"/>
          </a:p>
          <a:p>
            <a:pPr lvl="2">
              <a:defRPr/>
            </a:pPr>
            <a:r>
              <a:rPr lang="ru-RU" sz="1200" dirty="0"/>
              <a:t>может написать агенту - «Сделай мне агрегированный </a:t>
            </a:r>
            <a:r>
              <a:rPr lang="en-US" sz="1200" dirty="0"/>
              <a:t>PDF </a:t>
            </a:r>
            <a:r>
              <a:rPr lang="ru-RU" sz="1200" dirty="0"/>
              <a:t>из сводных листов ОС УБ и добавь в конец несколько сводных слайдов из продуктовых отчетов" = агент делает агрегированный </a:t>
            </a:r>
            <a:r>
              <a:rPr lang="en-US" sz="1200" dirty="0"/>
              <a:t>PDF</a:t>
            </a:r>
            <a:r>
              <a:rPr lang="ru-RU" sz="1200" dirty="0"/>
              <a:t>, где берет скриншоты из разных отчетов.</a:t>
            </a:r>
          </a:p>
          <a:p>
            <a:pPr marL="0" indent="0">
              <a:buNone/>
              <a:defRPr/>
            </a:pPr>
            <a:r>
              <a:rPr lang="ru-RU" sz="1200" dirty="0"/>
              <a:t>3) При необходимости можно менять очередность страниц в PDF (агент меняет очередность отработки ссылок в разовом запросе или шаблоне) </a:t>
            </a:r>
          </a:p>
          <a:p>
            <a:pPr marL="0" indent="0">
              <a:buNone/>
              <a:defRPr/>
            </a:pPr>
            <a:r>
              <a:rPr lang="ru-RU" sz="1200" dirty="0"/>
              <a:t>4) Вывести мониторинг процессов в формате отчета в Навигаторе.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m="http://schemas.openxmlformats.org/officeDocument/2006/math" xmlns:w="http://schemas.openxmlformats.org/wordprocessingml/2006/main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462893" y="-134691"/>
            <a:ext cx="10353761" cy="1326321"/>
          </a:xfrm>
        </p:spPr>
        <p:txBody>
          <a:bodyPr/>
          <a:lstStyle/>
          <a:p>
            <a:pPr>
              <a:defRPr/>
            </a:pPr>
            <a:r>
              <a:rPr lang="ru-RU"/>
              <a:t>Стоимость</a:t>
            </a:r>
          </a:p>
        </p:txBody>
      </p:sp>
      <p:sp>
        <p:nvSpPr>
          <p:cNvPr id="4" name="Объект 2"/>
          <p:cNvSpPr txBox="1"/>
          <p:nvPr/>
        </p:nvSpPr>
        <p:spPr bwMode="auto">
          <a:xfrm>
            <a:off x="889613" y="815605"/>
            <a:ext cx="11379200" cy="9047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Font typeface="Arial"/>
              <a:buChar char="•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Font typeface="Arial"/>
              <a:buChar char="•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Font typeface="Arial"/>
              <a:buChar char="•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Font typeface="Arial"/>
              <a:buChar char="•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Font typeface="Arial"/>
              <a:buChar char="•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Font typeface="Arial"/>
              <a:buChar char="•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Font typeface="Arial"/>
              <a:buChar char="•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 sz="1800"/>
              <a:t>Время отработки одной страницы </a:t>
            </a:r>
            <a:r>
              <a:rPr lang="en-US" sz="1800"/>
              <a:t>: </a:t>
            </a:r>
            <a:r>
              <a:rPr lang="ru-RU" sz="1800" b="1"/>
              <a:t>40 сек</a:t>
            </a:r>
            <a:r>
              <a:rPr lang="ru-RU" sz="1800"/>
              <a:t>.</a:t>
            </a:r>
            <a:r>
              <a:rPr lang="en-US" sz="1800"/>
              <a:t> (</a:t>
            </a:r>
            <a:r>
              <a:rPr lang="ru-RU" sz="1800"/>
              <a:t>будет снижено)</a:t>
            </a:r>
            <a:r>
              <a:rPr lang="en-US" sz="1800"/>
              <a:t>;</a:t>
            </a:r>
          </a:p>
          <a:p>
            <a:pPr>
              <a:defRPr/>
            </a:pPr>
            <a:r>
              <a:rPr lang="ru-RU" sz="1800"/>
              <a:t>Средняя стоимость одного </a:t>
            </a:r>
            <a:r>
              <a:rPr lang="en-US" sz="1800"/>
              <a:t>PDF: </a:t>
            </a:r>
            <a:r>
              <a:rPr lang="ru-RU" sz="1800"/>
              <a:t> </a:t>
            </a:r>
            <a:r>
              <a:rPr lang="ru-RU" sz="1800" b="1"/>
              <a:t>8</a:t>
            </a:r>
            <a:r>
              <a:rPr lang="en-US" sz="1800" b="1"/>
              <a:t> </a:t>
            </a:r>
            <a:r>
              <a:rPr lang="ru-RU" sz="1800" b="1"/>
              <a:t>руб</a:t>
            </a:r>
            <a:r>
              <a:rPr lang="ru-RU" sz="1800"/>
              <a:t>.</a:t>
            </a:r>
            <a:r>
              <a:rPr lang="en-US" sz="1800"/>
              <a:t>;</a:t>
            </a:r>
            <a:endParaRPr lang="ru-RU" sz="1800"/>
          </a:p>
        </p:txBody>
      </p:sp>
      <p:sp>
        <p:nvSpPr>
          <p:cNvPr id="7" name="Заголовок 1"/>
          <p:cNvSpPr txBox="1"/>
          <p:nvPr/>
        </p:nvSpPr>
        <p:spPr bwMode="auto">
          <a:xfrm>
            <a:off x="572184" y="1667853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>
              <a:lnSpc>
                <a:spcPct val="90000"/>
              </a:lnSpc>
              <a:spcBef>
                <a:spcPts val="0"/>
              </a:spcBef>
              <a:buNone/>
              <a:defRPr sz="3400" b="1" i="0" cap="all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ru-RU"/>
              <a:t>Выгода</a:t>
            </a:r>
          </a:p>
        </p:txBody>
      </p:sp>
      <p:graphicFrame>
        <p:nvGraphicFramePr>
          <p:cNvPr id="13" name="Таблица 12"/>
          <p:cNvGraphicFramePr>
            <a:graphicFrameLocks noGrp="1"/>
          </p:cNvGraphicFramePr>
          <p:nvPr/>
        </p:nvGraphicFramePr>
        <p:xfrm>
          <a:off x="695481" y="4303966"/>
          <a:ext cx="4953000" cy="79057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4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ru-RU" sz="1100" u="none" strike="noStrike"/>
                        <a:t>Пример на 40 вкладок (классический случай)</a:t>
                      </a:r>
                      <a:endParaRPr lang="ru-RU" sz="1100" b="1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ru-RU" sz="1100" u="none" strike="noStrike"/>
                        <a:t>минут</a:t>
                      </a:r>
                      <a:endParaRPr lang="ru-RU" sz="1100" b="1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 w="12700" algn="ctr">
                      <a:solidFill>
                        <a:schemeClr val="tx1"/>
                      </a:solidFill>
                    </a:lnL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ru-RU" sz="1100" u="none" strike="noStrike"/>
                        <a:t>Открытие и догрузка всех необходимых страниц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ru-RU" sz="1100" u="none" strike="noStrike"/>
                        <a:t>40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 w="12700" algn="ctr">
                      <a:solidFill>
                        <a:schemeClr val="tx1"/>
                      </a:solidFill>
                    </a:lnL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ru-RU" sz="1100" u="none" strike="noStrike"/>
                        <a:t>Беглый первичный просмотр ( с перелистыванием страниц)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ru-RU" sz="1100" u="none" strike="noStrike"/>
                        <a:t>14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 w="12700" algn="ctr">
                      <a:solidFill>
                        <a:schemeClr val="tx1"/>
                      </a:solidFill>
                    </a:lnL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ru-RU" sz="1100" u="none" strike="noStrike"/>
                        <a:t>Итого</a:t>
                      </a:r>
                      <a:endParaRPr lang="ru-RU" sz="1100" b="1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ru-RU" sz="1100" u="none" strike="noStrike"/>
                        <a:t>54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 w="12700" algn="ctr">
                      <a:solidFill>
                        <a:schemeClr val="tx1"/>
                      </a:solidFill>
                    </a:lnL>
                    <a:solidFill>
                      <a:schemeClr val="tx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4" name="Таблица 13"/>
          <p:cNvGraphicFramePr>
            <a:graphicFrameLocks noGrp="1"/>
          </p:cNvGraphicFramePr>
          <p:nvPr/>
        </p:nvGraphicFramePr>
        <p:xfrm>
          <a:off x="695481" y="5395777"/>
          <a:ext cx="4953000" cy="79057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4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ru-RU" sz="1100" u="none" strike="noStrike"/>
                        <a:t>Пример на 40 вкладок (классический случай)</a:t>
                      </a:r>
                      <a:endParaRPr lang="ru-RU" sz="1100" b="1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ru-RU" sz="1100" u="none" strike="noStrike"/>
                        <a:t>минут</a:t>
                      </a:r>
                      <a:endParaRPr lang="ru-RU" sz="1100" b="1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ru-RU" sz="1100" u="none" strike="noStrike"/>
                        <a:t>PDF генерация по шаблону или по списку страниц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ru-RU" sz="1100" u="none" strike="noStrike"/>
                        <a:t>26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ru-RU" sz="1100" u="none" strike="noStrike"/>
                        <a:t>Беглый первичный просмотр (по PDF)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ru-RU" sz="1100" u="none" strike="noStrike"/>
                        <a:t>10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ru-RU" sz="1100" u="none" strike="noStrike"/>
                        <a:t>Итого</a:t>
                      </a:r>
                      <a:endParaRPr lang="ru-RU" sz="1100" b="1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ru-RU" sz="1100" u="none" strike="noStrike"/>
                        <a:t>36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5" name="Таблица 14"/>
          <p:cNvGraphicFramePr>
            <a:graphicFrameLocks noGrp="1"/>
          </p:cNvGraphicFramePr>
          <p:nvPr/>
        </p:nvGraphicFramePr>
        <p:xfrm>
          <a:off x="5872361" y="4696356"/>
          <a:ext cx="4577924" cy="79057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815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63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ru-RU" sz="1100" u="none" strike="noStrike"/>
                        <a:t>Разница, мин.</a:t>
                      </a:r>
                      <a:endParaRPr lang="ru-RU" sz="1100" b="1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ru-RU" sz="1100" u="none" strike="noStrike"/>
                        <a:t>18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ru-RU" sz="1100" u="none" strike="noStrike"/>
                        <a:t>Средняя стоимость минуты сотрудника, руб.</a:t>
                      </a:r>
                      <a:endParaRPr lang="ru-RU" sz="1100" b="1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ru-RU" sz="1100" u="none" strike="noStrike"/>
                        <a:t>15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ru-RU" sz="1100" u="none" strike="noStrike"/>
                        <a:t>Экономия по примеру, руб.</a:t>
                      </a:r>
                      <a:endParaRPr lang="ru-RU" sz="1100" b="1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ru-RU" sz="1100" u="none" strike="noStrike"/>
                        <a:t>+ 270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ru-RU" sz="1100" u="none" strike="noStrike"/>
                        <a:t>Экономия по примеру (с учетом затрат на агента), руб.</a:t>
                      </a:r>
                      <a:endParaRPr lang="ru-RU" sz="1100" b="1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ru-RU" sz="1100" u="none" strike="noStrike"/>
                        <a:t>+ 262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" name="Объект 2"/>
          <p:cNvSpPr txBox="1"/>
          <p:nvPr/>
        </p:nvSpPr>
        <p:spPr bwMode="auto">
          <a:xfrm>
            <a:off x="867112" y="2259866"/>
            <a:ext cx="11379200" cy="9047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Font typeface="Arial"/>
              <a:buChar char="•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Font typeface="Arial"/>
              <a:buChar char="•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Font typeface="Arial"/>
              <a:buChar char="•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Font typeface="Arial"/>
              <a:buChar char="•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Font typeface="Arial"/>
              <a:buChar char="•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Font typeface="Arial"/>
              <a:buChar char="•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Font typeface="Arial"/>
              <a:buChar char="•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ru-RU" sz="1800"/>
          </a:p>
        </p:txBody>
      </p:sp>
      <p:sp>
        <p:nvSpPr>
          <p:cNvPr id="9" name="Объект 2"/>
          <p:cNvSpPr txBox="1"/>
          <p:nvPr/>
        </p:nvSpPr>
        <p:spPr bwMode="auto">
          <a:xfrm>
            <a:off x="867112" y="2320223"/>
            <a:ext cx="11379200" cy="9047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Font typeface="Arial"/>
              <a:buChar char="•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Font typeface="Arial"/>
              <a:buChar char="•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Font typeface="Arial"/>
              <a:buChar char="•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Font typeface="Arial"/>
              <a:buChar char="•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Font typeface="Arial"/>
              <a:buChar char="•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Font typeface="Arial"/>
              <a:buChar char="•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Font typeface="Arial"/>
              <a:buChar char="•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ru-RU" sz="1800"/>
          </a:p>
        </p:txBody>
      </p:sp>
      <p:sp>
        <p:nvSpPr>
          <p:cNvPr id="10" name="Объект 2"/>
          <p:cNvSpPr txBox="1"/>
          <p:nvPr/>
        </p:nvSpPr>
        <p:spPr bwMode="auto">
          <a:xfrm>
            <a:off x="889613" y="2687588"/>
            <a:ext cx="11379200" cy="1315142"/>
          </a:xfrm>
          <a:prstGeom prst="rect">
            <a:avLst/>
          </a:prstGeo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 fontScale="80000" lnSpcReduction="20000"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Font typeface="Arial"/>
              <a:buChar char="•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Font typeface="Arial"/>
              <a:buChar char="•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Font typeface="Arial"/>
              <a:buChar char="•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Font typeface="Arial"/>
              <a:buChar char="•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Font typeface="Arial"/>
              <a:buChar char="•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Font typeface="Arial"/>
              <a:buChar char="•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Font typeface="Arial"/>
              <a:buChar char="•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 sz="1800"/>
              <a:t>Снижение времени на подготовку презентаций (требуется анализ)</a:t>
            </a:r>
            <a:r>
              <a:rPr lang="en-US" sz="1800"/>
              <a:t>;</a:t>
            </a:r>
            <a:endParaRPr/>
          </a:p>
          <a:p>
            <a:pPr>
              <a:defRPr/>
            </a:pPr>
            <a:r>
              <a:rPr lang="ru-RU" sz="1800"/>
              <a:t>Быстрое принятие бизнес решений (за счет скорости и доступности инструмента)</a:t>
            </a:r>
            <a:r>
              <a:rPr lang="en-US" sz="1800"/>
              <a:t>;</a:t>
            </a:r>
            <a:endParaRPr/>
          </a:p>
          <a:p>
            <a:pPr>
              <a:defRPr/>
            </a:pPr>
            <a:r>
              <a:rPr lang="ru-RU" sz="1800"/>
              <a:t>Снижение рисков срыва проведения презентаций с онлайн показом на Навигаторе</a:t>
            </a:r>
            <a:r>
              <a:rPr lang="en-US" sz="1800"/>
              <a:t>;</a:t>
            </a:r>
          </a:p>
          <a:p>
            <a:pPr>
              <a:defRPr/>
            </a:pPr>
            <a:r>
              <a:rPr lang="en-US" sz="1800"/>
              <a:t>Возможность работать в оффлайн режиме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m="http://schemas.openxmlformats.org/officeDocument/2006/math" xmlns:w="http://schemas.openxmlformats.org/wordprocessingml/2006/main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462893" y="-134691"/>
            <a:ext cx="10353761" cy="1326321"/>
          </a:xfrm>
        </p:spPr>
        <p:txBody>
          <a:bodyPr/>
          <a:lstStyle/>
          <a:p>
            <a:pPr>
              <a:defRPr/>
            </a:pPr>
            <a:r>
              <a:rPr lang="ru-RU"/>
              <a:t>Почему не </a:t>
            </a:r>
            <a:r>
              <a:rPr lang="en-US"/>
              <a:t>ML ?</a:t>
            </a:r>
            <a:endParaRPr lang="ru-RU"/>
          </a:p>
        </p:txBody>
      </p:sp>
      <p:sp>
        <p:nvSpPr>
          <p:cNvPr id="4" name="Объект 2"/>
          <p:cNvSpPr txBox="1"/>
          <p:nvPr/>
        </p:nvSpPr>
        <p:spPr bwMode="auto">
          <a:xfrm>
            <a:off x="812800" y="1102988"/>
            <a:ext cx="11379200" cy="49581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Font typeface="Arial"/>
              <a:buChar char="•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Font typeface="Arial"/>
              <a:buChar char="•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Font typeface="Arial"/>
              <a:buChar char="•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Font typeface="Arial"/>
              <a:buChar char="•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Font typeface="Arial"/>
              <a:buChar char="•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Font typeface="Arial"/>
              <a:buChar char="•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Font typeface="Arial"/>
              <a:buChar char="•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 sz="1800"/>
              <a:t>Сейчас </a:t>
            </a:r>
            <a:r>
              <a:rPr lang="en-US" sz="1800"/>
              <a:t>LLM-</a:t>
            </a:r>
            <a:r>
              <a:rPr lang="ru-RU" sz="1800"/>
              <a:t>агент является простым оркестратором, но его функционал будет расширен, будет анализировать шаблоны и предпочтения пользователя. По факту агент будет делать минипрезентации</a:t>
            </a:r>
            <a:r>
              <a:rPr lang="en-US" sz="1800"/>
              <a:t>;</a:t>
            </a:r>
            <a:endParaRPr lang="ru-RU" sz="1800"/>
          </a:p>
          <a:p>
            <a:pPr>
              <a:defRPr/>
            </a:pPr>
            <a:r>
              <a:rPr lang="ru-RU" sz="1800"/>
              <a:t>Работа через агента позволит работать в контексте общения</a:t>
            </a:r>
            <a:r>
              <a:rPr lang="en-US" sz="1800"/>
              <a:t>;</a:t>
            </a:r>
            <a:endParaRPr/>
          </a:p>
          <a:p>
            <a:pPr>
              <a:defRPr/>
            </a:pPr>
            <a:r>
              <a:rPr lang="ru-RU" sz="1800"/>
              <a:t>Агент позволяет дорабатывать и внедрять новый функционал быстрее</a:t>
            </a:r>
          </a:p>
          <a:p>
            <a:pPr marL="0" indent="0">
              <a:buNone/>
              <a:defRPr/>
            </a:pPr>
            <a:endParaRPr lang="ru-RU" sz="18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m="http://schemas.openxmlformats.org/officeDocument/2006/math" xmlns:w="http://schemas.openxmlformats.org/wordprocessingml/2006/main">
      <p:transition advClick="1"/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78346F"/>
      </a:dk2>
      <a:lt2>
        <a:srgbClr val="D9A8D2"/>
      </a:lt2>
      <a:accent1>
        <a:srgbClr val="CE57AB"/>
      </a:accent1>
      <a:accent2>
        <a:srgbClr val="8E8EFD"/>
      </a:accent2>
      <a:accent3>
        <a:srgbClr val="7CBCE0"/>
      </a:accent3>
      <a:accent4>
        <a:srgbClr val="70BF9F"/>
      </a:accent4>
      <a:accent5>
        <a:srgbClr val="A5B960"/>
      </a:accent5>
      <a:accent6>
        <a:srgbClr val="D47A57"/>
      </a:accent6>
      <a:hlink>
        <a:srgbClr val="D164DE"/>
      </a:hlink>
      <a:folHlink>
        <a:srgbClr val="BE87C4"/>
      </a:folHlink>
    </a:clrScheme>
    <a:fontScheme name="Damask">
      <a:majorFont>
        <a:latin typeface="Bookman Old Style"/>
        <a:ea typeface="Arial"/>
        <a:cs typeface="Arial"/>
      </a:majorFont>
      <a:minorFont>
        <a:latin typeface="Rockwell"/>
        <a:ea typeface="Arial"/>
        <a:cs typeface="Arial"/>
      </a:minorFont>
    </a:fontScheme>
    <a:fmtScheme name="Damask">
      <a:fillStyleLst>
        <a:solidFill>
          <a:schemeClr val="phClr"/>
        </a:solidFill>
        <a:gradFill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Дамаск</Template>
  <TotalTime>5</TotalTime>
  <Words>718</Words>
  <Application>Microsoft Office PowerPoint</Application>
  <DocSecurity>0</DocSecurity>
  <PresentationFormat>Широкоэкранный</PresentationFormat>
  <Paragraphs>77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1" baseType="lpstr">
      <vt:lpstr>Arial</vt:lpstr>
      <vt:lpstr>Bookman Old Style</vt:lpstr>
      <vt:lpstr>Calibri</vt:lpstr>
      <vt:lpstr>Rockwell</vt:lpstr>
      <vt:lpstr>Damask</vt:lpstr>
      <vt:lpstr>AI-агент - умные pdf-выгрузки</vt:lpstr>
      <vt:lpstr>Коротко о главном</vt:lpstr>
      <vt:lpstr>Текущая функциональность агента</vt:lpstr>
      <vt:lpstr>Функциональность на доработку</vt:lpstr>
      <vt:lpstr>Стоимость</vt:lpstr>
      <vt:lpstr>Почему не ML ?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AI-ассистент для поиска знаний в СберЧате</dc:title>
  <dc:subject/>
  <dc:creator>Павленко Максим Юрьевич</dc:creator>
  <cp:keywords/>
  <dc:description/>
  <cp:lastModifiedBy>Павленко Максим Юрьевич</cp:lastModifiedBy>
  <cp:revision>60</cp:revision>
  <dcterms:created xsi:type="dcterms:W3CDTF">2025-06-18T07:47:29Z</dcterms:created>
  <dcterms:modified xsi:type="dcterms:W3CDTF">2025-11-10T11:21:05Z</dcterms:modified>
  <cp:category/>
  <dc:identifier/>
  <cp:contentStatus/>
  <dc:language/>
  <cp:version/>
</cp:coreProperties>
</file>