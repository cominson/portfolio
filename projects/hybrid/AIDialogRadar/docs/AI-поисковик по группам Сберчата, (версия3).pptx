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38" y="1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913795" y="2088319"/>
            <a:ext cx="5106004" cy="370288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3403" y="2088319"/>
            <a:ext cx="5094154" cy="370288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913795" y="2912232"/>
            <a:ext cx="5107208" cy="287896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02003" y="2088320"/>
            <a:ext cx="486555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912232"/>
            <a:ext cx="5095357" cy="287896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7228" y="609600"/>
            <a:ext cx="3932237" cy="2362199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078064" y="609600"/>
            <a:ext cx="6189492" cy="518160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7227" y="609600"/>
            <a:ext cx="5929773" cy="23621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7424804" y="758881"/>
            <a:ext cx="3255356" cy="4883038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913806" y="621321"/>
            <a:ext cx="10367564" cy="3379735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3424859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720644" y="3610032"/>
            <a:ext cx="8752299" cy="426811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4204821"/>
            <a:ext cx="10353761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836612" y="73524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10657956" y="2972093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 bwMode="auto">
          <a:xfrm>
            <a:off x="913794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 bwMode="auto"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 bwMode="auto"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 bwMode="auto"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13794" y="609599"/>
            <a:ext cx="7658705" cy="5181601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3795" y="2096063"/>
            <a:ext cx="10353761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194D43-8C74-4BBF-9DB1-3C93ABE18D11}" type="datetimeFigureOut">
              <a:rPr lang="ru-RU"/>
              <a:t>03.07.2025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514010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33118A-9C8D-4767-86AD-2A140722FDA6}" type="slidenum">
              <a:rPr lang="ru-RU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>
        <a:lnSpc>
          <a:spcPct val="90000"/>
        </a:lnSpc>
        <a:spcBef>
          <a:spcPts val="0"/>
        </a:spcBef>
        <a:buNone/>
        <a:defRPr sz="3400" b="1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media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media2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bervideo.sberbank.ru/watch/K1JE8UzpoeDxc4u31V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AI-ассистент для поиска знаний в </a:t>
            </a:r>
            <a:r>
              <a:rPr lang="ru-RU" dirty="0" err="1"/>
              <a:t>СберЧате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Умный помощник, который мгновенно находит нужные ответы в корпоративных чатах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Скругленный прямоугольник 27"/>
          <p:cNvSpPr>
            <a:spLocks noChangeAspect="1"/>
          </p:cNvSpPr>
          <p:nvPr/>
        </p:nvSpPr>
        <p:spPr bwMode="auto">
          <a:xfrm>
            <a:off x="-1338661" y="1512783"/>
            <a:ext cx="7711952" cy="5345217"/>
          </a:xfrm>
          <a:prstGeom prst="roundRect">
            <a:avLst>
              <a:gd name="adj" fmla="val 4095"/>
            </a:avLst>
          </a:prstGeom>
          <a:gradFill>
            <a:gsLst>
              <a:gs pos="31000">
                <a:schemeClr val="tx1">
                  <a:lumMod val="85000"/>
                  <a:lumOff val="15000"/>
                  <a:alpha val="0"/>
                </a:schemeClr>
              </a:gs>
              <a:gs pos="91000">
                <a:srgbClr val="4F3A84">
                  <a:alpha val="14182"/>
                </a:srgbClr>
              </a:gs>
            </a:gsLst>
            <a:lin ang="81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4">
                    <a:lumMod val="60000"/>
                    <a:lumOff val="40000"/>
                    <a:alpha val="0"/>
                  </a:schemeClr>
                </a:gs>
              </a:gsLst>
              <a:lin ang="8100000" scaled="1"/>
            </a:gradFill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914363">
              <a:lnSpc>
                <a:spcPct val="90000"/>
              </a:lnSpc>
              <a:defRPr/>
            </a:pPr>
            <a:endParaRPr lang="ru-RU" sz="1800">
              <a:solidFill>
                <a:srgbClr val="ECE6DF"/>
              </a:solidFill>
              <a:latin typeface="SB Sans Text Light"/>
              <a:cs typeface="SB Sans Text Light"/>
            </a:endParaRPr>
          </a:p>
        </p:txBody>
      </p:sp>
      <p:sp>
        <p:nvSpPr>
          <p:cNvPr id="52" name="Скругленный прямоугольник 27"/>
          <p:cNvSpPr>
            <a:spLocks noChangeAspect="1"/>
          </p:cNvSpPr>
          <p:nvPr/>
        </p:nvSpPr>
        <p:spPr bwMode="auto">
          <a:xfrm>
            <a:off x="7292072" y="1956522"/>
            <a:ext cx="2360377" cy="4078043"/>
          </a:xfrm>
          <a:prstGeom prst="roundRect">
            <a:avLst>
              <a:gd name="adj" fmla="val 7265"/>
            </a:avLst>
          </a:prstGeom>
          <a:gradFill>
            <a:gsLst>
              <a:gs pos="31000">
                <a:schemeClr val="tx1">
                  <a:lumMod val="85000"/>
                  <a:lumOff val="15000"/>
                  <a:alpha val="0"/>
                </a:schemeClr>
              </a:gs>
              <a:gs pos="91000">
                <a:srgbClr val="4F3A84">
                  <a:alpha val="14182"/>
                </a:srgbClr>
              </a:gs>
            </a:gsLst>
            <a:lin ang="81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50000"/>
                  </a:schemeClr>
                </a:gs>
                <a:gs pos="100000">
                  <a:schemeClr val="accent4">
                    <a:lumMod val="60000"/>
                    <a:lumOff val="40000"/>
                    <a:alpha val="0"/>
                  </a:schemeClr>
                </a:gs>
              </a:gsLst>
              <a:lin ang="8100000" scaled="1"/>
            </a:gradFill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914363">
              <a:lnSpc>
                <a:spcPct val="90000"/>
              </a:lnSpc>
              <a:defRPr/>
            </a:pPr>
            <a:endParaRPr lang="ru-RU" sz="1800">
              <a:solidFill>
                <a:srgbClr val="ECE6DF"/>
              </a:solidFill>
              <a:latin typeface="SB Sans Text Light"/>
              <a:cs typeface="SB Sans Text Light"/>
            </a:endParaRPr>
          </a:p>
        </p:txBody>
      </p:sp>
      <p:sp>
        <p:nvSpPr>
          <p:cNvPr id="53" name="Скругленный прямоугольник 27"/>
          <p:cNvSpPr>
            <a:spLocks noChangeAspect="1"/>
          </p:cNvSpPr>
          <p:nvPr/>
        </p:nvSpPr>
        <p:spPr bwMode="auto">
          <a:xfrm>
            <a:off x="10433061" y="1956522"/>
            <a:ext cx="1046196" cy="1460104"/>
          </a:xfrm>
          <a:prstGeom prst="roundRect">
            <a:avLst>
              <a:gd name="adj" fmla="val 7265"/>
            </a:avLst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0" tIns="216000" rIns="288000" bIns="288000" rtlCol="0" anchor="t" anchorCtr="0">
            <a:noAutofit/>
          </a:bodyPr>
          <a:lstStyle/>
          <a:p>
            <a:pPr defTabSz="914363">
              <a:defRPr/>
            </a:pPr>
            <a:endParaRPr lang="ru-RU" sz="1800">
              <a:solidFill>
                <a:srgbClr val="FFFFFF"/>
              </a:solidFill>
              <a:latin typeface="Calibri"/>
              <a:cs typeface="SB Sans Text"/>
            </a:endParaRPr>
          </a:p>
        </p:txBody>
      </p:sp>
      <p:sp>
        <p:nvSpPr>
          <p:cNvPr id="54" name="Скругленный прямоугольник 27"/>
          <p:cNvSpPr>
            <a:spLocks noChangeAspect="1"/>
          </p:cNvSpPr>
          <p:nvPr/>
        </p:nvSpPr>
        <p:spPr bwMode="auto">
          <a:xfrm>
            <a:off x="10433061" y="4574462"/>
            <a:ext cx="1046196" cy="1460104"/>
          </a:xfrm>
          <a:prstGeom prst="roundRect">
            <a:avLst>
              <a:gd name="adj" fmla="val 7265"/>
            </a:avLst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0" tIns="216000" rIns="288000" bIns="288000" rtlCol="0" anchor="t" anchorCtr="0">
            <a:noAutofit/>
          </a:bodyPr>
          <a:lstStyle/>
          <a:p>
            <a:pPr defTabSz="914363">
              <a:defRPr/>
            </a:pPr>
            <a:endParaRPr lang="ru-RU" sz="1800">
              <a:solidFill>
                <a:srgbClr val="FFFFFF"/>
              </a:solidFill>
              <a:latin typeface="Calibri"/>
              <a:cs typeface="SB Sans Text"/>
            </a:endParaRPr>
          </a:p>
        </p:txBody>
      </p:sp>
      <p:sp>
        <p:nvSpPr>
          <p:cNvPr id="595516902" name="Заголовок 1"/>
          <p:cNvSpPr>
            <a:spLocks noGrp="1"/>
          </p:cNvSpPr>
          <p:nvPr>
            <p:ph type="title"/>
          </p:nvPr>
        </p:nvSpPr>
        <p:spPr bwMode="auto">
          <a:xfrm>
            <a:off x="953238" y="-58564"/>
            <a:ext cx="10353761" cy="132632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/>
              <a:t>Чек лист защиты агента</a:t>
            </a:r>
            <a:endParaRPr/>
          </a:p>
        </p:txBody>
      </p:sp>
      <p:graphicFrame>
        <p:nvGraphicFramePr>
          <p:cNvPr id="28" name="Таблица 4"/>
          <p:cNvGraphicFramePr>
            <a:graphicFrameLocks/>
          </p:cNvGraphicFramePr>
          <p:nvPr/>
        </p:nvGraphicFramePr>
        <p:xfrm>
          <a:off x="587375" y="1641703"/>
          <a:ext cx="5508624" cy="3864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14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КРИТЕРИЙ ОЦЕНКИ</a:t>
                      </a:r>
                      <a:endParaRPr lang="ru-RU" sz="14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solidFill>
                        <a:schemeClr val="bg1">
                          <a:lumMod val="9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ОЦЕНКА</a:t>
                      </a:r>
                      <a:endParaRPr lang="ru-RU" sz="14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solidFill>
                        <a:schemeClr val="bg1">
                          <a:lumMod val="9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КОММЕНТАРИЙ </a:t>
                      </a:r>
                      <a:b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</a:b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(Вера, Саша, Слава)</a:t>
                      </a:r>
                      <a:endParaRPr lang="ru-RU" sz="14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108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solidFill>
                        <a:schemeClr val="bg1">
                          <a:lumMod val="9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279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Глубина и качество проработки идеи</a:t>
                      </a:r>
                      <a:endParaRPr sz="16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solidFill>
                        <a:schemeClr val="bg1">
                          <a:lumMod val="95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SB Sans Text"/>
                          <a:cs typeface="SB Sans Text"/>
                        </a:rPr>
                        <a:t>Проработана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39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solidFill>
                        <a:schemeClr val="bg1">
                          <a:lumMod val="95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chemeClr val="tx1"/>
                          </a:solidFill>
                          <a:latin typeface="SB Sans Text Light"/>
                          <a:ea typeface="Arial"/>
                          <a:cs typeface="SB Sans Text Light"/>
                        </a:rPr>
                        <a:t>Актуальная тема, особенно для новых сотрудников</a:t>
                      </a:r>
                      <a:endParaRPr sz="1100" b="0" i="0">
                        <a:solidFill>
                          <a:schemeClr val="tx1"/>
                        </a:solidFill>
                        <a:latin typeface="SB Sans Text Light"/>
                        <a:ea typeface="+mn-ea"/>
                        <a:cs typeface="SB Sans Text Light"/>
                      </a:endParaRPr>
                    </a:p>
                  </a:txBody>
                  <a:tcPr marL="108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solidFill>
                        <a:schemeClr val="bg1">
                          <a:lumMod val="95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46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ea typeface="Calibri"/>
                          <a:cs typeface="SB Sans Text Light"/>
                        </a:rPr>
                        <a:t>Технологическая зрелость, сложность и понятность структуры агента</a:t>
                      </a:r>
                      <a:endParaRPr lang="ru-RU" sz="11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SB Sans Text"/>
                          <a:cs typeface="SB Sans Text"/>
                        </a:rPr>
                        <a:t>Средняя сложность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39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chemeClr val="tx1"/>
                          </a:solidFill>
                          <a:latin typeface="SB Sans Text Light"/>
                          <a:ea typeface="Arial"/>
                          <a:cs typeface="SB Sans Text Light"/>
                        </a:rPr>
                        <a:t>Понятная реализация, схемы нет, поясняется в демонстрации</a:t>
                      </a:r>
                      <a:endParaRPr sz="1100" b="0" i="0">
                        <a:solidFill>
                          <a:schemeClr val="tx1"/>
                        </a:solidFill>
                        <a:latin typeface="SB Sans Text Light"/>
                        <a:ea typeface="+mn-ea"/>
                        <a:cs typeface="SB Sans Text Light"/>
                      </a:endParaRPr>
                    </a:p>
                  </a:txBody>
                  <a:tcPr marL="108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71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Оценка эффекта</a:t>
                      </a:r>
                      <a:endParaRPr sz="16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SB Sans Text"/>
                          <a:cs typeface="SB Sans Text"/>
                        </a:rPr>
                        <a:t>Есть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39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chemeClr val="tx1"/>
                          </a:solidFill>
                          <a:latin typeface="SB Sans Text Light"/>
                          <a:ea typeface="Arial"/>
                          <a:cs typeface="SB Sans Text Light"/>
                        </a:rPr>
                        <a:t>Оценка валидна, эффект в экономии времени сотрудников</a:t>
                      </a:r>
                      <a:endParaRPr sz="1100" b="0" i="0">
                        <a:solidFill>
                          <a:schemeClr val="tx1"/>
                        </a:solidFill>
                        <a:latin typeface="SB Sans Text Light"/>
                        <a:ea typeface="+mn-ea"/>
                        <a:cs typeface="SB Sans Text Light"/>
                      </a:endParaRPr>
                    </a:p>
                  </a:txBody>
                  <a:tcPr marL="108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866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Качество </a:t>
                      </a:r>
                      <a:r>
                        <a:rPr lang="en-US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/>
                      </a:r>
                      <a:br>
                        <a:rPr lang="en-US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</a:b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реализации (кода)</a:t>
                      </a:r>
                      <a:endParaRPr sz="16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SB Sans Text"/>
                          <a:cs typeface="SB Sans Text"/>
                        </a:rPr>
                        <a:t>Зачёт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39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chemeClr val="tx1"/>
                          </a:solidFill>
                          <a:latin typeface="SB Sans Text Light"/>
                          <a:ea typeface="Arial"/>
                          <a:cs typeface="SB Sans Text Light"/>
                        </a:rPr>
                        <a:t>Проверить качество на больших группах с разнородным контентом</a:t>
                      </a:r>
                      <a:endParaRPr sz="1100" b="0" i="0">
                        <a:solidFill>
                          <a:schemeClr val="tx1"/>
                        </a:solidFill>
                        <a:latin typeface="SB Sans Text Light"/>
                        <a:ea typeface="+mn-ea"/>
                        <a:cs typeface="SB Sans Text Light"/>
                      </a:endParaRPr>
                    </a:p>
                  </a:txBody>
                  <a:tcPr marL="108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174" algn="ctr">
                      <a:solidFill>
                        <a:schemeClr val="bg1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46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 b="0" i="0">
                          <a:solidFill>
                            <a:schemeClr val="tx1"/>
                          </a:solidFill>
                          <a:latin typeface="SB Sans Text Light"/>
                          <a:cs typeface="SB Sans Text Light"/>
                        </a:rPr>
                        <a:t>Видение по развитию</a:t>
                      </a:r>
                      <a:endParaRPr sz="1600" b="0" i="0">
                        <a:solidFill>
                          <a:schemeClr val="tx1"/>
                        </a:solidFill>
                        <a:latin typeface="SB Sans Text Light"/>
                        <a:cs typeface="SB Sans Text Light"/>
                      </a:endParaRPr>
                    </a:p>
                  </a:txBody>
                  <a:tcPr marL="3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699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SB Sans Text"/>
                          <a:cs typeface="SB Sans Text"/>
                        </a:rPr>
                        <a:t>Есть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396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699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b="0" i="0">
                          <a:solidFill>
                            <a:schemeClr val="tx1"/>
                          </a:solidFill>
                          <a:latin typeface="SB Sans Text Light"/>
                          <a:ea typeface="Arial"/>
                          <a:cs typeface="SB Sans Text Light"/>
                        </a:rPr>
                        <a:t>Есть, описаны ресурсы, верхнеуровневый план разработки, если развивать дальше</a:t>
                      </a:r>
                      <a:endParaRPr sz="1100" b="0" i="0">
                        <a:solidFill>
                          <a:schemeClr val="tx1"/>
                        </a:solidFill>
                        <a:latin typeface="SB Sans Text Light"/>
                        <a:ea typeface="+mn-ea"/>
                        <a:cs typeface="SB Sans Text Light"/>
                      </a:endParaRPr>
                    </a:p>
                  </a:txBody>
                  <a:tcPr marL="108000" marR="36000" marT="36000" marB="36000" anchor="ctr">
                    <a:lnL w="12699" algn="ctr">
                      <a:noFill/>
                    </a:lnL>
                    <a:lnR w="12699" algn="ctr">
                      <a:noFill/>
                    </a:lnR>
                    <a:lnT w="3174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699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" name="Группа 59"/>
          <p:cNvGrpSpPr/>
          <p:nvPr/>
        </p:nvGrpSpPr>
        <p:grpSpPr bwMode="auto">
          <a:xfrm>
            <a:off x="2466633" y="2320843"/>
            <a:ext cx="216377" cy="909970"/>
            <a:chOff x="0" y="0"/>
            <a:chExt cx="259652" cy="1091964"/>
          </a:xfrm>
        </p:grpSpPr>
        <p:pic>
          <p:nvPicPr>
            <p:cNvPr id="30" name="Рисунок 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0" y="0"/>
              <a:ext cx="259652" cy="259652"/>
            </a:xfrm>
            <a:prstGeom prst="rect">
              <a:avLst/>
            </a:prstGeom>
          </p:spPr>
        </p:pic>
        <p:pic>
          <p:nvPicPr>
            <p:cNvPr id="31" name="Рисунок 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0" y="832311"/>
              <a:ext cx="259652" cy="259652"/>
            </a:xfrm>
            <a:prstGeom prst="rect">
              <a:avLst/>
            </a:prstGeom>
          </p:spPr>
        </p:pic>
      </p:grpSp>
      <p:sp>
        <p:nvSpPr>
          <p:cNvPr id="34" name="Крест 33"/>
          <p:cNvSpPr/>
          <p:nvPr/>
        </p:nvSpPr>
        <p:spPr bwMode="auto">
          <a:xfrm>
            <a:off x="6575604" y="3670531"/>
            <a:ext cx="474574" cy="494158"/>
          </a:xfrm>
          <a:prstGeom prst="plus">
            <a:avLst>
              <a:gd name="adj" fmla="val 41979"/>
            </a:avLst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" name="Группа 60"/>
          <p:cNvGrpSpPr/>
          <p:nvPr/>
        </p:nvGrpSpPr>
        <p:grpSpPr bwMode="auto">
          <a:xfrm>
            <a:off x="7472429" y="2161282"/>
            <a:ext cx="2071774" cy="1138897"/>
            <a:chOff x="7328966" y="2161282"/>
            <a:chExt cx="2071774" cy="1138897"/>
          </a:xfrm>
        </p:grpSpPr>
        <p:sp>
          <p:nvSpPr>
            <p:cNvPr id="35" name="Скругленный прямоугольник 27"/>
            <p:cNvSpPr>
              <a:spLocks noChangeAspect="1"/>
            </p:cNvSpPr>
            <p:nvPr/>
          </p:nvSpPr>
          <p:spPr bwMode="auto">
            <a:xfrm>
              <a:off x="7328966" y="2161282"/>
              <a:ext cx="1938126" cy="1138897"/>
            </a:xfrm>
            <a:prstGeom prst="roundRect">
              <a:avLst>
                <a:gd name="adj" fmla="val 7265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0" tIns="216000" rIns="288000" bIns="288000" rtlCol="0" anchor="t" anchorCtr="0">
              <a:noAutofit/>
            </a:bodyPr>
            <a:lstStyle/>
            <a:p>
              <a:pPr defTabSz="914363">
                <a:defRPr/>
              </a:pPr>
              <a:endParaRPr lang="ru-RU" sz="1800">
                <a:solidFill>
                  <a:srgbClr val="FFFFFF"/>
                </a:solidFill>
                <a:latin typeface="Calibri"/>
                <a:cs typeface="SB Sans Text"/>
              </a:endParaRPr>
            </a:p>
          </p:txBody>
        </p:sp>
        <p:sp>
          <p:nvSpPr>
            <p:cNvPr id="36" name="Прямоугольник 41"/>
            <p:cNvSpPr/>
            <p:nvPr/>
          </p:nvSpPr>
          <p:spPr bwMode="auto">
            <a:xfrm>
              <a:off x="7539955" y="2347026"/>
              <a:ext cx="1860785" cy="464101"/>
            </a:xfrm>
            <a:prstGeom prst="rect">
              <a:avLst/>
            </a:prstGeom>
            <a:grpFill/>
          </p:spPr>
          <p:txBody>
            <a:bodyPr wrap="square" lIns="36000">
              <a:spAutoFit/>
            </a:bodyPr>
            <a:lstStyle/>
            <a:p>
              <a:pPr defTabSz="914363">
                <a:defRPr/>
              </a:pPr>
              <a:r>
                <a:rPr lang="ru-RU" sz="1200" b="1">
                  <a:solidFill>
                    <a:srgbClr val="29FAAF"/>
                  </a:solidFill>
                  <a:latin typeface="SB Sans Text Semibold"/>
                  <a:cs typeface="SB Sans Text Semibold"/>
                </a:rPr>
                <a:t>Выступление разработчика</a:t>
              </a:r>
              <a:endParaRPr sz="1200" b="1">
                <a:solidFill>
                  <a:srgbClr val="29FAAF"/>
                </a:solidFill>
                <a:latin typeface="SB Sans Text Semibold"/>
                <a:cs typeface="SB Sans Text Semibold"/>
              </a:endParaRPr>
            </a:p>
          </p:txBody>
        </p:sp>
        <p:sp>
          <p:nvSpPr>
            <p:cNvPr id="37" name="Прямоугольник 42"/>
            <p:cNvSpPr/>
            <p:nvPr/>
          </p:nvSpPr>
          <p:spPr bwMode="auto">
            <a:xfrm>
              <a:off x="7539955" y="2868025"/>
              <a:ext cx="800343" cy="252698"/>
            </a:xfrm>
            <a:prstGeom prst="rect">
              <a:avLst/>
            </a:prstGeom>
            <a:grpFill/>
          </p:spPr>
          <p:txBody>
            <a:bodyPr wrap="none" lIns="36000">
              <a:spAutoFit/>
            </a:bodyPr>
            <a:lstStyle/>
            <a:p>
              <a:pPr defTabSz="914363">
                <a:defRPr/>
              </a:pPr>
              <a:r>
                <a:rPr lang="ru-RU" sz="1050">
                  <a:solidFill>
                    <a:srgbClr val="FFFFFF">
                      <a:alpha val="80000"/>
                    </a:srgbClr>
                  </a:solidFill>
                  <a:latin typeface="SB Sans Text Light"/>
                  <a:cs typeface="SB Sans Text Light"/>
                </a:rPr>
                <a:t>10-15 мин</a:t>
              </a:r>
              <a:endParaRPr sz="1050">
                <a:solidFill>
                  <a:srgbClr val="FFFFFF">
                    <a:alpha val="80000"/>
                  </a:srgbClr>
                </a:solidFill>
                <a:latin typeface="SB Sans Text Light"/>
                <a:cs typeface="SB Sans Text Light"/>
              </a:endParaRPr>
            </a:p>
          </p:txBody>
        </p:sp>
      </p:grpSp>
      <p:grpSp>
        <p:nvGrpSpPr>
          <p:cNvPr id="62" name="Группа 61"/>
          <p:cNvGrpSpPr/>
          <p:nvPr/>
        </p:nvGrpSpPr>
        <p:grpSpPr bwMode="auto">
          <a:xfrm>
            <a:off x="7472429" y="3418844"/>
            <a:ext cx="1938126" cy="1138896"/>
            <a:chOff x="7328966" y="3418843"/>
            <a:chExt cx="1938126" cy="1138896"/>
          </a:xfrm>
        </p:grpSpPr>
        <p:sp>
          <p:nvSpPr>
            <p:cNvPr id="38" name="Скругленный прямоугольник 27"/>
            <p:cNvSpPr>
              <a:spLocks noChangeAspect="1"/>
            </p:cNvSpPr>
            <p:nvPr/>
          </p:nvSpPr>
          <p:spPr bwMode="auto">
            <a:xfrm>
              <a:off x="7328966" y="3418843"/>
              <a:ext cx="1938126" cy="1138896"/>
            </a:xfrm>
            <a:prstGeom prst="roundRect">
              <a:avLst>
                <a:gd name="adj" fmla="val 7265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0" tIns="216000" rIns="288000" bIns="288000" rtlCol="0" anchor="t" anchorCtr="0">
              <a:noAutofit/>
            </a:bodyPr>
            <a:lstStyle/>
            <a:p>
              <a:pPr defTabSz="914363">
                <a:defRPr/>
              </a:pPr>
              <a:endParaRPr lang="ru-RU" sz="1800">
                <a:solidFill>
                  <a:srgbClr val="FFFFFF"/>
                </a:solidFill>
                <a:latin typeface="Calibri"/>
                <a:cs typeface="SB Sans Text"/>
              </a:endParaRPr>
            </a:p>
          </p:txBody>
        </p:sp>
        <p:sp>
          <p:nvSpPr>
            <p:cNvPr id="39" name="Прямоугольник 41"/>
            <p:cNvSpPr/>
            <p:nvPr/>
          </p:nvSpPr>
          <p:spPr bwMode="auto">
            <a:xfrm>
              <a:off x="7539955" y="3609679"/>
              <a:ext cx="1608839" cy="464101"/>
            </a:xfrm>
            <a:prstGeom prst="rect">
              <a:avLst/>
            </a:prstGeom>
            <a:grpFill/>
          </p:spPr>
          <p:txBody>
            <a:bodyPr wrap="square" lIns="36000">
              <a:spAutoFit/>
            </a:bodyPr>
            <a:lstStyle/>
            <a:p>
              <a:pPr defTabSz="914363">
                <a:defRPr/>
              </a:pPr>
              <a:r>
                <a:rPr lang="ru-RU" sz="1200" b="1">
                  <a:solidFill>
                    <a:srgbClr val="29FAAF"/>
                  </a:solidFill>
                  <a:latin typeface="SB Sans Text Semibold"/>
                  <a:cs typeface="SB Sans Text Semibold"/>
                </a:rPr>
                <a:t>Демонстрация работы агента</a:t>
              </a:r>
              <a:endParaRPr sz="1200" b="1">
                <a:solidFill>
                  <a:srgbClr val="29FAAF"/>
                </a:solidFill>
                <a:latin typeface="SB Sans Text Semibold"/>
                <a:cs typeface="SB Sans Text Semibold"/>
              </a:endParaRPr>
            </a:p>
          </p:txBody>
        </p:sp>
        <p:sp>
          <p:nvSpPr>
            <p:cNvPr id="40" name="Прямоугольник 42"/>
            <p:cNvSpPr/>
            <p:nvPr/>
          </p:nvSpPr>
          <p:spPr bwMode="auto">
            <a:xfrm>
              <a:off x="7539955" y="4104183"/>
              <a:ext cx="580731" cy="252698"/>
            </a:xfrm>
            <a:prstGeom prst="rect">
              <a:avLst/>
            </a:prstGeom>
            <a:grpFill/>
          </p:spPr>
          <p:txBody>
            <a:bodyPr wrap="none" lIns="36000">
              <a:spAutoFit/>
            </a:bodyPr>
            <a:lstStyle/>
            <a:p>
              <a:pPr defTabSz="914363">
                <a:defRPr/>
              </a:pPr>
              <a:r>
                <a:rPr lang="ru-RU" sz="1050">
                  <a:solidFill>
                    <a:srgbClr val="FFFFFF">
                      <a:alpha val="80000"/>
                    </a:srgbClr>
                  </a:solidFill>
                  <a:latin typeface="SB Sans Text Light"/>
                  <a:cs typeface="SB Sans Text Light"/>
                </a:rPr>
                <a:t>10 мин</a:t>
              </a:r>
              <a:endParaRPr sz="1800">
                <a:solidFill>
                  <a:srgbClr val="000000"/>
                </a:solidFill>
                <a:latin typeface="Calibri"/>
                <a:cs typeface="Arial"/>
              </a:endParaRPr>
            </a:p>
          </p:txBody>
        </p:sp>
      </p:grpSp>
      <p:sp>
        <p:nvSpPr>
          <p:cNvPr id="41" name="Прямоугольник 41"/>
          <p:cNvSpPr/>
          <p:nvPr/>
        </p:nvSpPr>
        <p:spPr bwMode="auto">
          <a:xfrm>
            <a:off x="525584" y="1145046"/>
            <a:ext cx="4842546" cy="310406"/>
          </a:xfrm>
          <a:prstGeom prst="rect">
            <a:avLst/>
          </a:prstGeom>
        </p:spPr>
        <p:txBody>
          <a:bodyPr wrap="square" lIns="36000">
            <a:spAutoFit/>
          </a:bodyPr>
          <a:lstStyle/>
          <a:p>
            <a:pPr defTabSz="914363">
              <a:defRPr/>
            </a:pPr>
            <a:r>
              <a:rPr lang="ru-RU" sz="1400" b="1">
                <a:solidFill>
                  <a:srgbClr val="FFFFFF"/>
                </a:solidFill>
                <a:latin typeface="SB Sans Text Semibold"/>
                <a:cs typeface="SB Sans Text Semibold"/>
              </a:rPr>
              <a:t>Результаты предзащиты (Вера, Саша, Слава)</a:t>
            </a:r>
            <a:endParaRPr sz="1050" b="1">
              <a:solidFill>
                <a:srgbClr val="FFFFFF"/>
              </a:solidFill>
              <a:latin typeface="SB Sans Text Semibold"/>
              <a:cs typeface="SB Sans Text Semibold"/>
            </a:endParaRPr>
          </a:p>
        </p:txBody>
      </p:sp>
      <p:grpSp>
        <p:nvGrpSpPr>
          <p:cNvPr id="63" name="Группа 62"/>
          <p:cNvGrpSpPr/>
          <p:nvPr/>
        </p:nvGrpSpPr>
        <p:grpSpPr bwMode="auto">
          <a:xfrm>
            <a:off x="7472429" y="4676406"/>
            <a:ext cx="1938126" cy="1113134"/>
            <a:chOff x="7328966" y="4676406"/>
            <a:chExt cx="1938126" cy="1113134"/>
          </a:xfrm>
        </p:grpSpPr>
        <p:sp>
          <p:nvSpPr>
            <p:cNvPr id="42" name="Скругленный прямоугольник 27"/>
            <p:cNvSpPr>
              <a:spLocks noChangeAspect="1"/>
            </p:cNvSpPr>
            <p:nvPr/>
          </p:nvSpPr>
          <p:spPr bwMode="auto">
            <a:xfrm>
              <a:off x="7328966" y="4676406"/>
              <a:ext cx="1938126" cy="1113134"/>
            </a:xfrm>
            <a:prstGeom prst="roundRect">
              <a:avLst>
                <a:gd name="adj" fmla="val 7265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0" tIns="216000" rIns="288000" bIns="288000" rtlCol="0" anchor="t" anchorCtr="0">
              <a:noAutofit/>
            </a:bodyPr>
            <a:lstStyle/>
            <a:p>
              <a:pPr defTabSz="914363">
                <a:defRPr/>
              </a:pPr>
              <a:endParaRPr lang="ru-RU" sz="1800">
                <a:solidFill>
                  <a:srgbClr val="FFFFFF"/>
                </a:solidFill>
                <a:latin typeface="Calibri"/>
                <a:cs typeface="SB Sans Text"/>
              </a:endParaRPr>
            </a:p>
          </p:txBody>
        </p:sp>
        <p:sp>
          <p:nvSpPr>
            <p:cNvPr id="43" name="Прямоугольник 41"/>
            <p:cNvSpPr/>
            <p:nvPr/>
          </p:nvSpPr>
          <p:spPr bwMode="auto">
            <a:xfrm>
              <a:off x="7539956" y="4854605"/>
              <a:ext cx="1434574" cy="464101"/>
            </a:xfrm>
            <a:prstGeom prst="rect">
              <a:avLst/>
            </a:prstGeom>
            <a:grpFill/>
          </p:spPr>
          <p:txBody>
            <a:bodyPr wrap="square" lIns="36000">
              <a:spAutoFit/>
            </a:bodyPr>
            <a:lstStyle/>
            <a:p>
              <a:pPr defTabSz="914363">
                <a:defRPr/>
              </a:pPr>
              <a:r>
                <a:rPr lang="ru-RU" sz="1200" b="1">
                  <a:solidFill>
                    <a:srgbClr val="29FAAF"/>
                  </a:solidFill>
                  <a:latin typeface="SB Sans Text Semibold"/>
                  <a:cs typeface="SB Sans Text Semibold"/>
                </a:rPr>
                <a:t>Вопросы и ответы</a:t>
              </a:r>
              <a:endParaRPr sz="1200" b="1">
                <a:solidFill>
                  <a:srgbClr val="29FAAF"/>
                </a:solidFill>
                <a:latin typeface="SB Sans Text Semibold"/>
                <a:cs typeface="SB Sans Text Semibold"/>
              </a:endParaRPr>
            </a:p>
          </p:txBody>
        </p:sp>
        <p:sp>
          <p:nvSpPr>
            <p:cNvPr id="44" name="Прямоугольник 42"/>
            <p:cNvSpPr/>
            <p:nvPr/>
          </p:nvSpPr>
          <p:spPr bwMode="auto">
            <a:xfrm>
              <a:off x="7539955" y="5394977"/>
              <a:ext cx="502185" cy="252698"/>
            </a:xfrm>
            <a:prstGeom prst="rect">
              <a:avLst/>
            </a:prstGeom>
            <a:grpFill/>
          </p:spPr>
          <p:txBody>
            <a:bodyPr wrap="none" lIns="36000">
              <a:spAutoFit/>
            </a:bodyPr>
            <a:lstStyle/>
            <a:p>
              <a:pPr defTabSz="914363">
                <a:defRPr/>
              </a:pPr>
              <a:r>
                <a:rPr lang="ru-RU" sz="1050">
                  <a:solidFill>
                    <a:srgbClr val="FFFFFF">
                      <a:alpha val="80000"/>
                    </a:srgbClr>
                  </a:solidFill>
                  <a:latin typeface="SB Sans Text Light"/>
                  <a:cs typeface="SB Sans Text Light"/>
                </a:rPr>
                <a:t>5 мин</a:t>
              </a:r>
              <a:endParaRPr sz="1800">
                <a:solidFill>
                  <a:srgbClr val="000000"/>
                </a:solidFill>
                <a:latin typeface="Calibri"/>
                <a:cs typeface="Arial"/>
              </a:endParaRPr>
            </a:p>
          </p:txBody>
        </p:sp>
      </p:grpSp>
      <p:sp>
        <p:nvSpPr>
          <p:cNvPr id="45" name="Равно 44"/>
          <p:cNvSpPr/>
          <p:nvPr/>
        </p:nvSpPr>
        <p:spPr bwMode="auto">
          <a:xfrm>
            <a:off x="9815347" y="3729394"/>
            <a:ext cx="528874" cy="520501"/>
          </a:xfrm>
          <a:prstGeom prst="mathEqual">
            <a:avLst>
              <a:gd name="adj1" fmla="val 17301"/>
              <a:gd name="adj2" fmla="val 27307"/>
            </a:avLst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6" name="Рисунок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</a:ext>
            </a:extLst>
          </a:blip>
          <a:stretch/>
        </p:blipFill>
        <p:spPr bwMode="auto">
          <a:xfrm>
            <a:off x="10689405" y="2212809"/>
            <a:ext cx="540122" cy="540122"/>
          </a:xfrm>
          <a:prstGeom prst="rect">
            <a:avLst/>
          </a:prstGeom>
        </p:spPr>
      </p:pic>
      <p:pic>
        <p:nvPicPr>
          <p:cNvPr id="47" name="Рисунок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5"/>
              </a:ext>
            </a:extLst>
          </a:blip>
          <a:stretch/>
        </p:blipFill>
        <p:spPr bwMode="auto">
          <a:xfrm>
            <a:off x="10706754" y="4799089"/>
            <a:ext cx="505426" cy="505426"/>
          </a:xfrm>
          <a:prstGeom prst="rect">
            <a:avLst/>
          </a:prstGeom>
        </p:spPr>
      </p:pic>
      <p:grpSp>
        <p:nvGrpSpPr>
          <p:cNvPr id="59" name="Группа 58"/>
          <p:cNvGrpSpPr/>
          <p:nvPr/>
        </p:nvGrpSpPr>
        <p:grpSpPr bwMode="auto">
          <a:xfrm>
            <a:off x="570156" y="5632887"/>
            <a:ext cx="5376102" cy="1062847"/>
            <a:chOff x="0" y="0"/>
            <a:chExt cx="5376102" cy="1062847"/>
          </a:xfrm>
        </p:grpSpPr>
        <p:sp>
          <p:nvSpPr>
            <p:cNvPr id="49" name="Скругленный прямоугольник 27"/>
            <p:cNvSpPr>
              <a:spLocks noChangeAspect="1"/>
            </p:cNvSpPr>
            <p:nvPr/>
          </p:nvSpPr>
          <p:spPr bwMode="auto">
            <a:xfrm>
              <a:off x="0" y="0"/>
              <a:ext cx="5376102" cy="1062847"/>
            </a:xfrm>
            <a:prstGeom prst="roundRect">
              <a:avLst>
                <a:gd name="adj" fmla="val 7265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0" tIns="216000" rIns="288000" bIns="288000" rtlCol="0" anchor="t" anchorCtr="0">
              <a:noAutofit/>
            </a:bodyPr>
            <a:lstStyle/>
            <a:p>
              <a:pPr defTabSz="914363">
                <a:defRPr/>
              </a:pPr>
              <a:endParaRPr lang="ru-RU" sz="1800">
                <a:solidFill>
                  <a:srgbClr val="FFFFFF"/>
                </a:solidFill>
                <a:latin typeface="Calibri"/>
                <a:cs typeface="SB Sans Text"/>
              </a:endParaRPr>
            </a:p>
          </p:txBody>
        </p:sp>
        <p:sp>
          <p:nvSpPr>
            <p:cNvPr id="50" name="Прямоугольник 41"/>
            <p:cNvSpPr/>
            <p:nvPr/>
          </p:nvSpPr>
          <p:spPr bwMode="auto">
            <a:xfrm>
              <a:off x="237402" y="133582"/>
              <a:ext cx="5002393" cy="649986"/>
            </a:xfrm>
            <a:prstGeom prst="rect">
              <a:avLst/>
            </a:prstGeom>
            <a:grpFill/>
          </p:spPr>
          <p:txBody>
            <a:bodyPr wrap="square" lIns="36000">
              <a:spAutoFit/>
            </a:bodyPr>
            <a:lstStyle/>
            <a:p>
              <a:pPr defTabSz="914363">
                <a:defRPr/>
              </a:pPr>
              <a:r>
                <a:rPr lang="ru-RU" sz="1200" b="1">
                  <a:solidFill>
                    <a:srgbClr val="29FAAF"/>
                  </a:solidFill>
                  <a:latin typeface="SB Sans Text Semibold"/>
                  <a:cs typeface="SB Sans Text Semibold"/>
                </a:rPr>
                <a:t>До защиты допускаем только прошедших предзащиту.</a:t>
              </a:r>
              <a:br>
                <a:rPr lang="ru-RU" sz="1200" b="1">
                  <a:solidFill>
                    <a:srgbClr val="29FAAF"/>
                  </a:solidFill>
                  <a:latin typeface="SB Sans Text Semibold"/>
                  <a:cs typeface="SB Sans Text Semibold"/>
                </a:rPr>
              </a:br>
              <a:r>
                <a:rPr lang="ru-RU" sz="1200">
                  <a:solidFill>
                    <a:srgbClr val="29FAAF"/>
                  </a:solidFill>
                  <a:latin typeface="SB Sans Text Light"/>
                  <a:cs typeface="SB Sans Text Light"/>
                </a:rPr>
                <a:t>Защита проходит у лидера Штаба Г.М. Капелюшника и</a:t>
              </a:r>
              <a:r>
                <a:rPr lang="en-US" sz="1200">
                  <a:solidFill>
                    <a:srgbClr val="29FAAF"/>
                  </a:solidFill>
                  <a:latin typeface="SB Sans Text Light"/>
                  <a:cs typeface="SB Sans Text Light"/>
                </a:rPr>
                <a:t> </a:t>
              </a:r>
              <a:r>
                <a:rPr lang="ru-RU" sz="1200">
                  <a:solidFill>
                    <a:srgbClr val="29FAAF"/>
                  </a:solidFill>
                  <a:latin typeface="SB Sans Text Light"/>
                  <a:cs typeface="SB Sans Text Light"/>
                </a:rPr>
                <a:t>лидера Штаба Юнита</a:t>
              </a:r>
              <a:endParaRPr sz="1800">
                <a:solidFill>
                  <a:srgbClr val="000000"/>
                </a:solidFill>
                <a:latin typeface="Calibri"/>
                <a:cs typeface="Arial"/>
              </a:endParaRPr>
            </a:p>
          </p:txBody>
        </p:sp>
        <p:sp>
          <p:nvSpPr>
            <p:cNvPr id="51" name="Прямоугольник 42"/>
            <p:cNvSpPr/>
            <p:nvPr/>
          </p:nvSpPr>
          <p:spPr bwMode="auto">
            <a:xfrm>
              <a:off x="237403" y="754875"/>
              <a:ext cx="1624279" cy="252698"/>
            </a:xfrm>
            <a:prstGeom prst="rect">
              <a:avLst/>
            </a:prstGeom>
            <a:grpFill/>
          </p:spPr>
          <p:txBody>
            <a:bodyPr wrap="square" lIns="36000">
              <a:spAutoFit/>
            </a:bodyPr>
            <a:lstStyle/>
            <a:p>
              <a:pPr defTabSz="914363">
                <a:defRPr/>
              </a:pPr>
              <a:r>
                <a:rPr lang="ru-RU" sz="1050">
                  <a:solidFill>
                    <a:srgbClr val="FFFFFF">
                      <a:alpha val="80000"/>
                    </a:srgbClr>
                  </a:solidFill>
                  <a:latin typeface="SB Sans Text Light"/>
                  <a:cs typeface="SB Sans Text Light"/>
                </a:rPr>
                <a:t>10-20 защит по 60 мин</a:t>
              </a:r>
              <a:endParaRPr sz="1400">
                <a:solidFill>
                  <a:srgbClr val="000000"/>
                </a:solidFill>
                <a:latin typeface="Calibri"/>
                <a:cs typeface="Arial"/>
              </a:endParaRP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0638897" y="2979986"/>
            <a:ext cx="641138" cy="28661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 algn="ctr" defTabSz="914363">
              <a:defRPr/>
            </a:pPr>
            <a:r>
              <a:rPr sz="1200" b="1">
                <a:solidFill>
                  <a:srgbClr val="FFFFFF"/>
                </a:solidFill>
                <a:latin typeface="SB Sans Text Semibold"/>
                <a:cs typeface="SB Sans Text Semibold"/>
              </a:rPr>
              <a:t>Зачет</a:t>
            </a:r>
            <a:endParaRPr sz="1500"/>
          </a:p>
        </p:txBody>
      </p:sp>
      <p:sp>
        <p:nvSpPr>
          <p:cNvPr id="55" name="TextBox 54"/>
          <p:cNvSpPr txBox="1"/>
          <p:nvPr/>
        </p:nvSpPr>
        <p:spPr bwMode="auto">
          <a:xfrm>
            <a:off x="10611936" y="3782919"/>
            <a:ext cx="695063" cy="38048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 algn="ctr" defTabSz="914363">
              <a:defRPr/>
            </a:pPr>
            <a:r>
              <a:rPr lang="ru-RU" sz="1800">
                <a:solidFill>
                  <a:srgbClr val="FFFFFF">
                    <a:alpha val="50066"/>
                  </a:srgbClr>
                </a:solidFill>
                <a:latin typeface="SB Sans Text Light"/>
                <a:cs typeface="SB Sans Text Light"/>
              </a:rPr>
              <a:t>ИЛИ</a:t>
            </a:r>
            <a:endParaRPr sz="1500"/>
          </a:p>
        </p:txBody>
      </p:sp>
      <p:sp>
        <p:nvSpPr>
          <p:cNvPr id="57" name="TextBox 56"/>
          <p:cNvSpPr txBox="1"/>
          <p:nvPr/>
        </p:nvSpPr>
        <p:spPr bwMode="auto">
          <a:xfrm>
            <a:off x="10523899" y="5575192"/>
            <a:ext cx="871135" cy="28661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 algn="ctr" defTabSz="914363">
              <a:defRPr/>
            </a:pPr>
            <a:r>
              <a:rPr lang="ru-RU" sz="1200" b="1">
                <a:solidFill>
                  <a:srgbClr val="FFFFFF"/>
                </a:solidFill>
                <a:latin typeface="SB Sans Text Semibold"/>
                <a:cs typeface="SB Sans Text Semibold"/>
              </a:rPr>
              <a:t>не зачёт</a:t>
            </a:r>
            <a:endParaRPr sz="1200" b="1">
              <a:solidFill>
                <a:srgbClr val="FFFFFF"/>
              </a:solidFill>
              <a:latin typeface="SB Sans Text Semibold"/>
              <a:cs typeface="SB Sans Text Semibold"/>
            </a:endParaRPr>
          </a:p>
        </p:txBody>
      </p:sp>
      <p:pic>
        <p:nvPicPr>
          <p:cNvPr id="1950733978" name="Рисунок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</a:ext>
            </a:extLst>
          </a:blip>
          <a:stretch/>
        </p:blipFill>
        <p:spPr bwMode="auto">
          <a:xfrm>
            <a:off x="2466634" y="3674729"/>
            <a:ext cx="216378" cy="216378"/>
          </a:xfrm>
          <a:prstGeom prst="rect">
            <a:avLst/>
          </a:prstGeom>
        </p:spPr>
      </p:pic>
      <p:pic>
        <p:nvPicPr>
          <p:cNvPr id="373100686" name="Рисунок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</a:ext>
            </a:extLst>
          </a:blip>
          <a:stretch/>
        </p:blipFill>
        <p:spPr bwMode="auto">
          <a:xfrm>
            <a:off x="2466634" y="4300905"/>
            <a:ext cx="216378" cy="216378"/>
          </a:xfrm>
          <a:prstGeom prst="rect">
            <a:avLst/>
          </a:prstGeom>
        </p:spPr>
      </p:pic>
      <p:pic>
        <p:nvPicPr>
          <p:cNvPr id="706594799" name="Рисунок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3"/>
              </a:ext>
            </a:extLst>
          </a:blip>
          <a:stretch/>
        </p:blipFill>
        <p:spPr bwMode="auto">
          <a:xfrm>
            <a:off x="2466634" y="5051801"/>
            <a:ext cx="216378" cy="216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3792" y="613664"/>
            <a:ext cx="10353761" cy="1326321"/>
          </a:xfrm>
        </p:spPr>
        <p:txBody>
          <a:bodyPr/>
          <a:lstStyle/>
          <a:p>
            <a:pPr>
              <a:defRPr/>
            </a:pPr>
            <a:r>
              <a:rPr lang="ru-RU" dirty="0"/>
              <a:t>Коротко о главном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913794" y="2271343"/>
            <a:ext cx="10353761" cy="1109447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1400" b="1" u="sng" dirty="0"/>
              <a:t>Проблема</a:t>
            </a:r>
            <a:r>
              <a:rPr lang="en-US" sz="1400" b="1" u="sng" dirty="0"/>
              <a:t>:</a:t>
            </a:r>
            <a:endParaRPr lang="ru-RU" sz="1400" b="1" u="sng" dirty="0"/>
          </a:p>
          <a:p>
            <a:pPr>
              <a:defRPr/>
            </a:pPr>
            <a:r>
              <a:rPr lang="ru-RU" sz="1400" dirty="0"/>
              <a:t>Сотрудники тратят время на поиск корпоративных </a:t>
            </a:r>
            <a:r>
              <a:rPr lang="ru-RU" sz="1400" dirty="0" err="1"/>
              <a:t>лайфхаков</a:t>
            </a:r>
            <a:r>
              <a:rPr lang="ru-RU" sz="1400" dirty="0"/>
              <a:t> (коммуникации, </a:t>
            </a:r>
            <a:r>
              <a:rPr lang="en-US" sz="1400" dirty="0"/>
              <a:t>confluence</a:t>
            </a:r>
            <a:r>
              <a:rPr lang="ru-RU" sz="1400" dirty="0"/>
              <a:t>, </a:t>
            </a:r>
            <a:r>
              <a:rPr lang="ru-RU" sz="1400" dirty="0" err="1"/>
              <a:t>сберчат</a:t>
            </a:r>
            <a:r>
              <a:rPr lang="ru-RU" sz="1400" dirty="0"/>
              <a:t> и т.д.)</a:t>
            </a:r>
            <a:r>
              <a:rPr lang="en-US" sz="1400" dirty="0"/>
              <a:t>;</a:t>
            </a:r>
            <a:endParaRPr dirty="0"/>
          </a:p>
          <a:p>
            <a:pPr>
              <a:defRPr/>
            </a:pPr>
            <a:r>
              <a:rPr lang="ru-RU" sz="1400" dirty="0"/>
              <a:t>В среднем сотрудник тратит на поиск ответа от 30 минут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913793" y="4887127"/>
            <a:ext cx="11061329" cy="222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400" b="1" u="sng"/>
              <a:t>Решение – </a:t>
            </a:r>
            <a:r>
              <a:rPr lang="en-US" sz="1400" b="1" u="sng"/>
              <a:t>AI</a:t>
            </a:r>
            <a:r>
              <a:rPr lang="ru-RU" sz="1400" b="1" u="sng"/>
              <a:t> ассистент</a:t>
            </a:r>
            <a:r>
              <a:rPr lang="en-US" sz="1400" b="1" u="sng"/>
              <a:t> </a:t>
            </a:r>
            <a:r>
              <a:rPr lang="ru-RU" sz="1400" b="1" u="sng"/>
              <a:t>на основе сообщений из СберЧата</a:t>
            </a:r>
            <a:r>
              <a:rPr lang="en-US" sz="1400" b="1" u="sng"/>
              <a:t>:</a:t>
            </a:r>
            <a:endParaRPr lang="ru-RU" sz="1400" b="1" u="sng"/>
          </a:p>
          <a:p>
            <a:pPr>
              <a:defRPr/>
            </a:pPr>
            <a:r>
              <a:rPr lang="ru-RU" sz="1400"/>
              <a:t>Быстрый поиск нужной информации в корпоративных чатах разной глубины историчности</a:t>
            </a:r>
            <a:r>
              <a:rPr lang="en-US" sz="1400"/>
              <a:t>;</a:t>
            </a:r>
            <a:endParaRPr/>
          </a:p>
          <a:p>
            <a:pPr>
              <a:defRPr/>
            </a:pPr>
            <a:r>
              <a:rPr lang="ru-RU" sz="1400"/>
              <a:t>Нет дублирования запросов, не требуется отвлечение сотрудников на их обработку</a:t>
            </a:r>
            <a:r>
              <a:rPr lang="en-US" sz="1400"/>
              <a:t>;</a:t>
            </a:r>
            <a:endParaRPr/>
          </a:p>
          <a:p>
            <a:pPr>
              <a:defRPr/>
            </a:pPr>
            <a:r>
              <a:rPr lang="ru-RU" sz="1400"/>
              <a:t>Сбор обратной связи от сотрудников, формирование базы «эталонных» ответов в рамках улучшения модели</a:t>
            </a:r>
            <a:r>
              <a:rPr lang="en-US" sz="1400"/>
              <a:t>;</a:t>
            </a:r>
            <a:endParaRPr lang="ru-RU" sz="1400"/>
          </a:p>
          <a:p>
            <a:pPr>
              <a:defRPr/>
            </a:pPr>
            <a:r>
              <a:rPr lang="ru-RU" sz="1400"/>
              <a:t>Простой и понятный интерфейс ассистента</a:t>
            </a:r>
            <a:r>
              <a:rPr lang="en-US" sz="1400"/>
              <a:t>.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endParaRPr lang="ru-RU" sz="1400"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913794" y="3423138"/>
            <a:ext cx="10353761" cy="1230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913794" y="3423138"/>
            <a:ext cx="10353761" cy="1545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400" b="1" u="sng"/>
              <a:t>Последствия</a:t>
            </a:r>
            <a:r>
              <a:rPr lang="en-US" sz="1400" b="1" u="sng"/>
              <a:t>:</a:t>
            </a:r>
            <a:endParaRPr lang="ru-RU" sz="1400" b="1" u="sng"/>
          </a:p>
          <a:p>
            <a:pPr>
              <a:defRPr/>
            </a:pPr>
            <a:r>
              <a:rPr lang="ru-RU" sz="1400"/>
              <a:t>Сотрудники генерируют повторные вопросы</a:t>
            </a:r>
            <a:r>
              <a:rPr lang="en-US" sz="1400"/>
              <a:t>;</a:t>
            </a:r>
            <a:endParaRPr/>
          </a:p>
          <a:p>
            <a:pPr>
              <a:defRPr/>
            </a:pPr>
            <a:r>
              <a:rPr lang="ru-RU" sz="1400"/>
              <a:t>Сложно быстро найти информацию в истории переписки, либо в других каналах</a:t>
            </a:r>
            <a:r>
              <a:rPr lang="en-US" sz="1400"/>
              <a:t>;</a:t>
            </a:r>
            <a:endParaRPr/>
          </a:p>
          <a:p>
            <a:pPr>
              <a:defRPr/>
            </a:pPr>
            <a:r>
              <a:rPr lang="ru-RU" sz="1400"/>
              <a:t>Отвлечение сотрудников от основных задач</a:t>
            </a:r>
            <a:r>
              <a:rPr lang="en-US" sz="1400"/>
              <a:t>.</a:t>
            </a:r>
            <a:endParaRPr/>
          </a:p>
          <a:p>
            <a:pPr marL="0" indent="0">
              <a:buNone/>
              <a:defRPr/>
            </a:pPr>
            <a:endParaRPr lang="en-US" sz="1400"/>
          </a:p>
        </p:txBody>
      </p:sp>
      <p:sp>
        <p:nvSpPr>
          <p:cNvPr id="7" name="Объект 2"/>
          <p:cNvSpPr txBox="1"/>
          <p:nvPr/>
        </p:nvSpPr>
        <p:spPr bwMode="auto">
          <a:xfrm>
            <a:off x="913792" y="1501831"/>
            <a:ext cx="10353761" cy="1109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400" b="1" u="sng" dirty="0"/>
              <a:t>Категория пользователей</a:t>
            </a:r>
            <a:r>
              <a:rPr lang="en-US" sz="1400" b="1" u="sng" dirty="0"/>
              <a:t>:</a:t>
            </a:r>
            <a:endParaRPr lang="ru-RU" sz="1400" b="1" u="sng" dirty="0"/>
          </a:p>
          <a:p>
            <a:pPr marL="0" indent="0">
              <a:buNone/>
              <a:defRPr/>
            </a:pPr>
            <a:r>
              <a:rPr lang="ru-RU" sz="1400" dirty="0" smtClean="0"/>
              <a:t>Все сотрудники Банка</a:t>
            </a:r>
            <a:endParaRPr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 это работает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0" y="1935920"/>
            <a:ext cx="5651979" cy="46055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700"/>
              <a:t>Сотрудник пишет вопрос на веб-странице</a:t>
            </a:r>
            <a:r>
              <a:rPr lang="en-US" sz="1700"/>
              <a:t>;</a:t>
            </a:r>
            <a:endParaRPr/>
          </a:p>
          <a:p>
            <a:pPr>
              <a:defRPr/>
            </a:pPr>
            <a:r>
              <a:rPr lang="ru-RU" sz="1700"/>
              <a:t>Бот предоставляет готовый ответ</a:t>
            </a:r>
            <a:r>
              <a:rPr lang="en-US" sz="1700"/>
              <a:t> </a:t>
            </a:r>
            <a:r>
              <a:rPr lang="ru-RU" sz="1700"/>
              <a:t>на основе, либо базы эталонных ответов, либо сообщений в группах СберЧата</a:t>
            </a:r>
            <a:r>
              <a:rPr lang="en-US" sz="1700"/>
              <a:t>;</a:t>
            </a:r>
            <a:endParaRPr/>
          </a:p>
          <a:p>
            <a:pPr>
              <a:defRPr/>
            </a:pPr>
            <a:r>
              <a:rPr lang="ru-RU" sz="1700"/>
              <a:t>Пользователь оценивает полезность и корректность ответа</a:t>
            </a:r>
            <a:r>
              <a:rPr lang="en-US" sz="1700"/>
              <a:t> </a:t>
            </a:r>
            <a:r>
              <a:rPr lang="ru-RU" sz="1700"/>
              <a:t>(</a:t>
            </a:r>
            <a:r>
              <a:rPr lang="en-US" sz="1800"/>
              <a:t>Like/DisLike</a:t>
            </a:r>
            <a:r>
              <a:rPr lang="ru-RU" sz="1700"/>
              <a:t>).</a:t>
            </a:r>
          </a:p>
          <a:p>
            <a:pPr>
              <a:defRPr/>
            </a:pPr>
            <a:endParaRPr lang="ru-RU" sz="17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651979" y="2076598"/>
            <a:ext cx="6179537" cy="349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сейчас «умеет» </a:t>
            </a:r>
            <a:r>
              <a:rPr lang="en-US"/>
              <a:t>ai-</a:t>
            </a:r>
            <a:r>
              <a:rPr lang="ru-RU"/>
              <a:t>агент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913795" y="2096063"/>
            <a:ext cx="11016948" cy="3695136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/>
              <a:t>Пользователь «простыми словами» пишет запрос на поиск информации в групповых чатах (СберЧат);</a:t>
            </a:r>
            <a:endParaRPr/>
          </a:p>
          <a:p>
            <a:pPr>
              <a:defRPr/>
            </a:pPr>
            <a:r>
              <a:rPr lang="en-US"/>
              <a:t>AI-</a:t>
            </a:r>
            <a:r>
              <a:rPr lang="ru-RU"/>
              <a:t>агент выполняет автоматическую загрузку истории сообщений из чатов (СберЧат)</a:t>
            </a:r>
            <a:r>
              <a:rPr lang="en-US"/>
              <a:t>;</a:t>
            </a:r>
            <a:endParaRPr/>
          </a:p>
          <a:p>
            <a:pPr>
              <a:defRPr/>
            </a:pPr>
            <a:r>
              <a:rPr lang="en-US"/>
              <a:t>AI-</a:t>
            </a:r>
            <a:r>
              <a:rPr lang="ru-RU"/>
              <a:t>агент выполняет первичный поиск в базе эталонных ответов (пополняется на основе </a:t>
            </a:r>
            <a:r>
              <a:rPr lang="en-US"/>
              <a:t>Like/DisLike);</a:t>
            </a:r>
            <a:endParaRPr/>
          </a:p>
          <a:p>
            <a:pPr>
              <a:defRPr/>
            </a:pPr>
            <a:r>
              <a:rPr lang="en-US"/>
              <a:t>AI-</a:t>
            </a:r>
            <a:r>
              <a:rPr lang="ru-RU"/>
              <a:t>агент выполняет интеллектуальный поиск</a:t>
            </a:r>
            <a:r>
              <a:rPr lang="en-US"/>
              <a:t> </a:t>
            </a:r>
            <a:r>
              <a:rPr lang="ru-RU"/>
              <a:t>на основе подзапросов и сообщений из групповых чатов</a:t>
            </a:r>
            <a:r>
              <a:rPr lang="en-US"/>
              <a:t>;</a:t>
            </a:r>
            <a:endParaRPr/>
          </a:p>
          <a:p>
            <a:pPr>
              <a:defRPr/>
            </a:pPr>
            <a:r>
              <a:rPr lang="ru-RU"/>
              <a:t>В логику </a:t>
            </a:r>
            <a:r>
              <a:rPr lang="en-US"/>
              <a:t>AI-</a:t>
            </a:r>
            <a:r>
              <a:rPr lang="ru-RU"/>
              <a:t>агента встроена функция повторного поиска через кнопку </a:t>
            </a:r>
            <a:r>
              <a:rPr lang="en-US"/>
              <a:t>DisLike;</a:t>
            </a:r>
            <a:endParaRPr lang="ru-RU"/>
          </a:p>
          <a:p>
            <a:pPr>
              <a:defRPr/>
            </a:pPr>
            <a:r>
              <a:rPr lang="ru-RU"/>
              <a:t>По итогу отработки логики </a:t>
            </a:r>
            <a:r>
              <a:rPr lang="en-US"/>
              <a:t>AI-</a:t>
            </a:r>
            <a:r>
              <a:rPr lang="ru-RU"/>
              <a:t>агент формирует ответ по запросу пользователя</a:t>
            </a:r>
            <a:r>
              <a:rPr lang="en-US"/>
              <a:t>;</a:t>
            </a:r>
            <a:endParaRPr lang="ru-RU"/>
          </a:p>
          <a:p>
            <a:pPr>
              <a:defRPr/>
            </a:pPr>
            <a:r>
              <a:rPr lang="ru-RU"/>
              <a:t>Пользователь может оценить ответ </a:t>
            </a:r>
            <a:r>
              <a:rPr lang="en-US"/>
              <a:t>AI-</a:t>
            </a:r>
            <a:r>
              <a:rPr lang="ru-RU"/>
              <a:t>агента (</a:t>
            </a:r>
            <a:r>
              <a:rPr lang="en-US"/>
              <a:t>Like/DisLike</a:t>
            </a:r>
            <a:r>
              <a:rPr lang="ru-RU"/>
              <a:t>)</a:t>
            </a:r>
            <a:r>
              <a:rPr lang="en-US"/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Какие есть проблемы у </a:t>
            </a:r>
            <a:r>
              <a:rPr lang="en-US"/>
              <a:t>MVP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Текущий поиск имеет риски добавить не связанную с вопросом информацию</a:t>
            </a:r>
            <a:r>
              <a:rPr lang="en-US"/>
              <a:t>;</a:t>
            </a:r>
            <a:endParaRPr/>
          </a:p>
          <a:p>
            <a:pPr>
              <a:defRPr/>
            </a:pPr>
            <a:r>
              <a:rPr lang="ru-RU"/>
              <a:t>Не может связывать не очевидные сообщения с вопросом</a:t>
            </a:r>
            <a:r>
              <a:rPr lang="en-US"/>
              <a:t>;</a:t>
            </a:r>
            <a:endParaRPr lang="ru-RU"/>
          </a:p>
          <a:p>
            <a:pPr>
              <a:defRPr/>
            </a:pPr>
            <a:r>
              <a:rPr lang="ru-RU"/>
              <a:t>Поиск производится сразу по всем сообщениям всех чатов</a:t>
            </a:r>
            <a:r>
              <a:rPr lang="en-US"/>
              <a:t>;</a:t>
            </a:r>
            <a:endParaRPr/>
          </a:p>
          <a:p>
            <a:pPr>
              <a:defRPr/>
            </a:pPr>
            <a:r>
              <a:rPr lang="ru-RU"/>
              <a:t>Редкие галлюцинации модели </a:t>
            </a:r>
            <a:r>
              <a:rPr lang="en-US"/>
              <a:t>GigaChatMax 2.0.</a:t>
            </a:r>
            <a:r>
              <a:rPr lang="ru-RU"/>
              <a:t>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Что хочется реализовать</a:t>
            </a:r>
            <a:r>
              <a:rPr lang="en-US" dirty="0"/>
              <a:t> </a:t>
            </a:r>
            <a:r>
              <a:rPr lang="ru-RU" dirty="0"/>
              <a:t>еще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913795" y="2096063"/>
            <a:ext cx="10353761" cy="459212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1400" b="1" u="sng" dirty="0"/>
              <a:t>В краткосрочной перспективе</a:t>
            </a:r>
            <a:r>
              <a:rPr lang="en-US" sz="1400" b="1" u="sng" dirty="0"/>
              <a:t>:</a:t>
            </a:r>
            <a:endParaRPr sz="1400" dirty="0"/>
          </a:p>
          <a:p>
            <a:pPr>
              <a:defRPr/>
            </a:pPr>
            <a:r>
              <a:rPr lang="ru-RU" sz="1400" dirty="0"/>
              <a:t>Добавить усложненную систему поиска на основе группировки сообщений по времени и обсуждениям</a:t>
            </a:r>
            <a:r>
              <a:rPr lang="en-US" sz="1400" dirty="0"/>
              <a:t>;</a:t>
            </a:r>
            <a:endParaRPr sz="1400" dirty="0"/>
          </a:p>
          <a:p>
            <a:pPr>
              <a:defRPr/>
            </a:pPr>
            <a:r>
              <a:rPr lang="ru-RU" sz="1400" dirty="0"/>
              <a:t>Добавить окно ввода для варианта ответа от пользователя</a:t>
            </a:r>
            <a:r>
              <a:rPr lang="en-US" sz="1400" dirty="0"/>
              <a:t>;</a:t>
            </a:r>
            <a:endParaRPr sz="1400" dirty="0"/>
          </a:p>
          <a:p>
            <a:pPr>
              <a:defRPr/>
            </a:pPr>
            <a:r>
              <a:rPr lang="ru-RU" sz="1400" dirty="0"/>
              <a:t>Улучшить систему обновления инструкций и сообщений из чатов в онлайн режиме</a:t>
            </a:r>
            <a:r>
              <a:rPr lang="en-US" sz="1400" dirty="0" smtClean="0"/>
              <a:t>;</a:t>
            </a:r>
          </a:p>
          <a:p>
            <a:pPr>
              <a:defRPr/>
            </a:pPr>
            <a:r>
              <a:rPr lang="ru-RU" sz="1400" dirty="0" smtClean="0"/>
              <a:t>Доработать контроль актуальности информации (включая эталонную базу)</a:t>
            </a:r>
            <a:r>
              <a:rPr lang="en-US" sz="1400" dirty="0" smtClean="0"/>
              <a:t>;</a:t>
            </a:r>
            <a:endParaRPr lang="ru-RU" sz="1400" dirty="0"/>
          </a:p>
          <a:p>
            <a:pPr>
              <a:defRPr/>
            </a:pPr>
            <a:r>
              <a:rPr lang="ru-RU" sz="1400" dirty="0"/>
              <a:t>Добавить ограничение поиска только по группам которые ближе всего к теме вопроса.</a:t>
            </a:r>
            <a:endParaRPr lang="en-US" sz="1400" dirty="0"/>
          </a:p>
          <a:p>
            <a:pPr marL="0" indent="0">
              <a:buNone/>
              <a:defRPr/>
            </a:pPr>
            <a:endParaRPr lang="en-US" sz="1400" dirty="0"/>
          </a:p>
          <a:p>
            <a:pPr marL="0" indent="0">
              <a:buNone/>
              <a:defRPr/>
            </a:pPr>
            <a:r>
              <a:rPr lang="ru-RU" sz="1400" b="1" u="sng" dirty="0"/>
              <a:t>В долгосрочной перспективе</a:t>
            </a:r>
            <a:r>
              <a:rPr lang="en-US" sz="1400" b="1" u="sng" dirty="0"/>
              <a:t>:</a:t>
            </a:r>
            <a:endParaRPr sz="1400" dirty="0"/>
          </a:p>
          <a:p>
            <a:pPr>
              <a:defRPr/>
            </a:pPr>
            <a:r>
              <a:rPr lang="ru-RU" sz="1400" dirty="0"/>
              <a:t>Внедрить ассистента в ПРОМ</a:t>
            </a:r>
            <a:r>
              <a:rPr lang="en-US" sz="1400" dirty="0"/>
              <a:t>;</a:t>
            </a:r>
            <a:endParaRPr sz="1400" dirty="0"/>
          </a:p>
          <a:p>
            <a:pPr>
              <a:defRPr/>
            </a:pPr>
            <a:r>
              <a:rPr lang="ru-RU" sz="1400" dirty="0"/>
              <a:t>Добавить возможность задавать уточняющие вопросы</a:t>
            </a:r>
            <a:r>
              <a:rPr lang="en-US" sz="1400" dirty="0"/>
              <a:t>;</a:t>
            </a:r>
            <a:endParaRPr sz="1400" dirty="0"/>
          </a:p>
          <a:p>
            <a:pPr>
              <a:defRPr/>
            </a:pPr>
            <a:r>
              <a:rPr lang="ru-RU" sz="1400" dirty="0"/>
              <a:t>Добавить функцию длительного ответа, когда Ассистент сам задает вопрос пользователя в ближайших по смыслу чатах и после получения ответа направляет его пользователю по почте. </a:t>
            </a:r>
            <a:endParaRPr lang="en-US" sz="1400" dirty="0"/>
          </a:p>
          <a:p>
            <a:pPr>
              <a:defRPr/>
            </a:pPr>
            <a:endParaRPr lang="ru-RU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Стоимость и выгода</a:t>
            </a:r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750276" y="1689664"/>
            <a:ext cx="11379200" cy="4587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800" b="1" u="sng" dirty="0"/>
              <a:t>Без </a:t>
            </a:r>
            <a:r>
              <a:rPr lang="en-US" sz="1800" b="1" u="sng" dirty="0"/>
              <a:t>AI-</a:t>
            </a:r>
            <a:r>
              <a:rPr lang="ru-RU" sz="1800" b="1" u="sng" dirty="0"/>
              <a:t>агента</a:t>
            </a:r>
            <a:r>
              <a:rPr lang="en-US" sz="1800" b="1" u="sng" dirty="0"/>
              <a:t>: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Среднее время сотрудника на поиск ответа</a:t>
            </a:r>
            <a:r>
              <a:rPr lang="en-US" sz="1800" dirty="0"/>
              <a:t>: </a:t>
            </a:r>
            <a:r>
              <a:rPr lang="en-US" sz="1800" b="1" dirty="0"/>
              <a:t>30</a:t>
            </a:r>
            <a:r>
              <a:rPr lang="ru-RU" sz="1800" b="1" dirty="0"/>
              <a:t> мин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Средняя стоимость минуты сотрудника</a:t>
            </a:r>
            <a:r>
              <a:rPr lang="en-US" sz="1800" dirty="0"/>
              <a:t>: </a:t>
            </a:r>
            <a:r>
              <a:rPr lang="ru-RU" sz="1800" b="1" dirty="0" smtClean="0"/>
              <a:t>30</a:t>
            </a:r>
            <a:r>
              <a:rPr lang="en-US" sz="1800" b="1" dirty="0" smtClean="0"/>
              <a:t> </a:t>
            </a:r>
            <a:r>
              <a:rPr lang="ru-RU" sz="1800" b="1" dirty="0"/>
              <a:t>руб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Средние затраты на поиск одного ответа</a:t>
            </a:r>
            <a:r>
              <a:rPr lang="en-US" sz="1800" dirty="0"/>
              <a:t>: </a:t>
            </a:r>
            <a:r>
              <a:rPr lang="ru-RU" sz="1800" b="1" dirty="0" smtClean="0"/>
              <a:t>900</a:t>
            </a:r>
            <a:r>
              <a:rPr lang="en-US" sz="1800" b="1" dirty="0" smtClean="0"/>
              <a:t> </a:t>
            </a:r>
            <a:r>
              <a:rPr lang="ru-RU" sz="1800" b="1" dirty="0"/>
              <a:t>руб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  <a:defRPr/>
            </a:pPr>
            <a:r>
              <a:rPr lang="ru-RU" sz="1800" dirty="0"/>
              <a:t>	- (</a:t>
            </a:r>
            <a:r>
              <a:rPr lang="ru-RU" sz="1800" dirty="0" err="1"/>
              <a:t>Экспертно</a:t>
            </a:r>
            <a:r>
              <a:rPr lang="ru-RU" sz="1800" dirty="0"/>
              <a:t> на 20 тыс. запросов в месяц) средняя стоимость затрат в месяц – </a:t>
            </a:r>
            <a:r>
              <a:rPr lang="ru-RU" sz="1800" b="1" dirty="0" smtClean="0"/>
              <a:t>18</a:t>
            </a:r>
            <a:r>
              <a:rPr lang="ru-RU" sz="1800" b="1" dirty="0" smtClean="0"/>
              <a:t> </a:t>
            </a:r>
            <a:r>
              <a:rPr lang="ru-RU" sz="1800" b="1" dirty="0"/>
              <a:t>млн. руб.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  <a:defRPr/>
            </a:pPr>
            <a:r>
              <a:rPr lang="ru-RU" sz="1800" dirty="0"/>
              <a:t>	- (</a:t>
            </a:r>
            <a:r>
              <a:rPr lang="ru-RU" sz="1800" dirty="0" err="1"/>
              <a:t>Экспертно</a:t>
            </a:r>
            <a:r>
              <a:rPr lang="ru-RU" sz="1800" dirty="0"/>
              <a:t> на 20 тыс. запросов в месяц) средняя стоимость затрат в</a:t>
            </a:r>
            <a:r>
              <a:rPr lang="en-US" sz="1800" dirty="0"/>
              <a:t> </a:t>
            </a:r>
            <a:r>
              <a:rPr lang="ru-RU" sz="1800" dirty="0"/>
              <a:t>год – </a:t>
            </a:r>
            <a:r>
              <a:rPr lang="ru-RU" sz="1800" b="1" dirty="0" smtClean="0"/>
              <a:t>216 </a:t>
            </a:r>
            <a:r>
              <a:rPr lang="ru-RU" sz="1800" b="1" dirty="0"/>
              <a:t>млн. руб.</a:t>
            </a:r>
            <a:r>
              <a:rPr lang="en-US" sz="1800" dirty="0"/>
              <a:t>;</a:t>
            </a:r>
          </a:p>
          <a:p>
            <a:pPr marL="0" indent="0">
              <a:buNone/>
              <a:defRPr/>
            </a:pPr>
            <a:endParaRPr lang="ru-RU" sz="1800" dirty="0"/>
          </a:p>
          <a:p>
            <a:pPr marL="0" indent="0">
              <a:buNone/>
              <a:defRPr/>
            </a:pPr>
            <a:r>
              <a:rPr lang="ru-RU" sz="1800" b="1" u="sng" dirty="0"/>
              <a:t>С </a:t>
            </a:r>
            <a:r>
              <a:rPr lang="en-US" sz="1800" b="1" u="sng" dirty="0"/>
              <a:t>AI</a:t>
            </a:r>
            <a:r>
              <a:rPr lang="ru-RU" sz="1800" b="1" u="sng" dirty="0"/>
              <a:t>-агентом</a:t>
            </a:r>
            <a:r>
              <a:rPr lang="en-US" sz="1800" b="1" u="sng" dirty="0"/>
              <a:t>:</a:t>
            </a: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Время сотрудника на поиск ответа</a:t>
            </a:r>
            <a:r>
              <a:rPr lang="en-US" sz="1800" dirty="0"/>
              <a:t>: </a:t>
            </a:r>
            <a:r>
              <a:rPr lang="ru-RU" sz="1800" b="1" dirty="0"/>
              <a:t>2 мин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Средняя стоимость минуты сотрудника + цена одного запроса (15 руб. в рамках пилотных групп) </a:t>
            </a:r>
            <a:r>
              <a:rPr lang="en-US" sz="1800" dirty="0"/>
              <a:t>: </a:t>
            </a:r>
            <a:r>
              <a:rPr lang="ru-RU" sz="1800" b="1" dirty="0"/>
              <a:t>4</a:t>
            </a:r>
            <a:r>
              <a:rPr lang="ru-RU" sz="1800" b="1" dirty="0" smtClean="0"/>
              <a:t>5</a:t>
            </a:r>
            <a:r>
              <a:rPr lang="en-US" sz="1800" b="1" dirty="0" smtClean="0"/>
              <a:t> </a:t>
            </a:r>
            <a:r>
              <a:rPr lang="ru-RU" sz="1800" b="1" dirty="0"/>
              <a:t>руб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/>
              <a:t>	- </a:t>
            </a:r>
            <a:r>
              <a:rPr lang="ru-RU" sz="1800" dirty="0"/>
              <a:t>Средние затраты на поиск одного ответа</a:t>
            </a:r>
            <a:r>
              <a:rPr lang="en-US" sz="1800" dirty="0"/>
              <a:t>: </a:t>
            </a:r>
            <a:r>
              <a:rPr lang="ru-RU" sz="1800" b="1" dirty="0" smtClean="0"/>
              <a:t>90</a:t>
            </a:r>
            <a:r>
              <a:rPr lang="en-US" sz="1800" b="1" dirty="0" smtClean="0"/>
              <a:t> </a:t>
            </a:r>
            <a:r>
              <a:rPr lang="ru-RU" sz="1800" b="1" dirty="0"/>
              <a:t>руб</a:t>
            </a:r>
            <a:r>
              <a:rPr lang="ru-RU" sz="1800" dirty="0"/>
              <a:t>.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  <a:defRPr/>
            </a:pPr>
            <a:r>
              <a:rPr lang="ru-RU" sz="1800" dirty="0"/>
              <a:t>	- (</a:t>
            </a:r>
            <a:r>
              <a:rPr lang="ru-RU" sz="1800" dirty="0" err="1"/>
              <a:t>Экспертно</a:t>
            </a:r>
            <a:r>
              <a:rPr lang="ru-RU" sz="1800" dirty="0"/>
              <a:t> на 20 тыс. запросов в месяц) средняя стоимость затрат в месяц – </a:t>
            </a:r>
            <a:r>
              <a:rPr lang="ru-RU" sz="1800" b="1" dirty="0" smtClean="0"/>
              <a:t>1</a:t>
            </a:r>
            <a:r>
              <a:rPr lang="en-US" sz="1800" b="1" dirty="0" smtClean="0"/>
              <a:t>,</a:t>
            </a:r>
            <a:r>
              <a:rPr lang="ru-RU" sz="1800" b="1" dirty="0" smtClean="0"/>
              <a:t>5м</a:t>
            </a:r>
            <a:r>
              <a:rPr lang="ru-RU" sz="1800" b="1" dirty="0" smtClean="0"/>
              <a:t>лн</a:t>
            </a:r>
            <a:r>
              <a:rPr lang="ru-RU" sz="1800" b="1" dirty="0"/>
              <a:t>. руб. (</a:t>
            </a:r>
            <a:r>
              <a:rPr lang="ru-RU" sz="1800" b="1" dirty="0">
                <a:solidFill>
                  <a:schemeClr val="accent1"/>
                </a:solidFill>
              </a:rPr>
              <a:t>+ </a:t>
            </a:r>
            <a:r>
              <a:rPr lang="en-US" sz="1800" b="1" dirty="0" smtClean="0">
                <a:solidFill>
                  <a:schemeClr val="accent1"/>
                </a:solidFill>
              </a:rPr>
              <a:t>16,5</a:t>
            </a:r>
            <a:r>
              <a:rPr lang="ru-RU" sz="1800" b="1" dirty="0" smtClean="0">
                <a:solidFill>
                  <a:schemeClr val="accent1"/>
                </a:solidFill>
              </a:rPr>
              <a:t> </a:t>
            </a:r>
            <a:r>
              <a:rPr lang="ru-RU" sz="1800" b="1" dirty="0">
                <a:solidFill>
                  <a:schemeClr val="accent1"/>
                </a:solidFill>
              </a:rPr>
              <a:t>млн. руб.</a:t>
            </a:r>
            <a:r>
              <a:rPr lang="ru-RU" sz="1800" b="1" dirty="0"/>
              <a:t>)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  <a:defRPr/>
            </a:pPr>
            <a:r>
              <a:rPr lang="ru-RU" sz="1800" dirty="0"/>
              <a:t>	- (</a:t>
            </a:r>
            <a:r>
              <a:rPr lang="ru-RU" sz="1800" dirty="0" err="1"/>
              <a:t>Экспертно</a:t>
            </a:r>
            <a:r>
              <a:rPr lang="ru-RU" sz="1800" dirty="0"/>
              <a:t> на 20 тыс. запросов в месяц) средняя стоимость затрат в</a:t>
            </a:r>
            <a:r>
              <a:rPr lang="en-US" sz="1800" dirty="0"/>
              <a:t> </a:t>
            </a:r>
            <a:r>
              <a:rPr lang="ru-RU" sz="1800" dirty="0"/>
              <a:t>год – </a:t>
            </a:r>
            <a:r>
              <a:rPr lang="en-US" sz="1800" b="1" dirty="0" smtClean="0"/>
              <a:t>18</a:t>
            </a:r>
            <a:r>
              <a:rPr lang="ru-RU" sz="1800" b="1" dirty="0" smtClean="0"/>
              <a:t> </a:t>
            </a:r>
            <a:r>
              <a:rPr lang="ru-RU" sz="1800" b="1" dirty="0"/>
              <a:t>млн. руб. (</a:t>
            </a:r>
            <a:r>
              <a:rPr lang="ru-RU" sz="1800" b="1" dirty="0">
                <a:solidFill>
                  <a:schemeClr val="accent1"/>
                </a:solidFill>
              </a:rPr>
              <a:t>+ </a:t>
            </a:r>
            <a:r>
              <a:rPr lang="en-US" sz="1800" b="1" dirty="0" smtClean="0">
                <a:solidFill>
                  <a:schemeClr val="accent1"/>
                </a:solidFill>
              </a:rPr>
              <a:t>198</a:t>
            </a:r>
            <a:r>
              <a:rPr lang="ru-RU" sz="1800" b="1" dirty="0" smtClean="0">
                <a:solidFill>
                  <a:schemeClr val="accent1"/>
                </a:solidFill>
              </a:rPr>
              <a:t> </a:t>
            </a:r>
            <a:r>
              <a:rPr lang="ru-RU" sz="1800" b="1" dirty="0">
                <a:solidFill>
                  <a:schemeClr val="accent1"/>
                </a:solidFill>
              </a:rPr>
              <a:t>млн. руб.</a:t>
            </a:r>
            <a:r>
              <a:rPr lang="ru-RU" sz="1800" b="1" dirty="0"/>
              <a:t>)</a:t>
            </a:r>
            <a:r>
              <a:rPr lang="en-US" sz="1800" dirty="0"/>
              <a:t>;</a:t>
            </a:r>
          </a:p>
          <a:p>
            <a:pPr marL="0" indent="0">
              <a:buNone/>
              <a:defRPr/>
            </a:pPr>
            <a:endParaRPr lang="ru-RU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Трудозатраты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1800"/>
              <a:t>MVP </a:t>
            </a:r>
            <a:r>
              <a:rPr lang="ru-RU" sz="1800"/>
              <a:t>разработан за полноценные 2 недели одним ПШЕ уровня </a:t>
            </a:r>
            <a:r>
              <a:rPr lang="en-US" sz="1800"/>
              <a:t>Senior Python;</a:t>
            </a:r>
            <a:endParaRPr/>
          </a:p>
          <a:p>
            <a:pPr>
              <a:defRPr/>
            </a:pPr>
            <a:r>
              <a:rPr lang="ru-RU" sz="1800"/>
              <a:t>Реализация доработок потребует команды от 3х человек уровня разработки не ниже </a:t>
            </a:r>
            <a:r>
              <a:rPr lang="en-US" sz="1800"/>
              <a:t>Middle</a:t>
            </a:r>
            <a:r>
              <a:rPr lang="ru-RU" sz="1800"/>
              <a:t>, сроки от 3 месяцев</a:t>
            </a:r>
            <a:r>
              <a:rPr lang="en-US" sz="1800"/>
              <a:t>;</a:t>
            </a:r>
            <a:endParaRPr/>
          </a:p>
          <a:p>
            <a:pPr>
              <a:defRPr/>
            </a:pPr>
            <a:r>
              <a:rPr lang="ru-RU" sz="1800"/>
              <a:t>Срок вывода в ПРОМ 6 месяцев (экспертно)</a:t>
            </a:r>
            <a:r>
              <a:rPr lang="ru-RU" sz="1800">
                <a:solidFill>
                  <a:schemeClr val="tx1"/>
                </a:solidFill>
              </a:rPr>
              <a:t>*</a:t>
            </a:r>
            <a:endParaRPr lang="ru-RU" sz="1800">
              <a:solidFill>
                <a:schemeClr val="accent6"/>
              </a:solidFill>
            </a:endParaRPr>
          </a:p>
          <a:p>
            <a:pPr>
              <a:defRPr/>
            </a:pPr>
            <a:endParaRPr lang="ru-RU" sz="1800"/>
          </a:p>
          <a:p>
            <a:pPr>
              <a:defRPr/>
            </a:pPr>
            <a:endParaRPr lang="en-US" sz="1800"/>
          </a:p>
          <a:p>
            <a:pPr>
              <a:defRPr/>
            </a:pPr>
            <a:endParaRPr lang="ru-RU" sz="1800"/>
          </a:p>
        </p:txBody>
      </p:sp>
      <p:sp>
        <p:nvSpPr>
          <p:cNvPr id="1115281855" name="Объект 2"/>
          <p:cNvSpPr txBox="1"/>
          <p:nvPr/>
        </p:nvSpPr>
        <p:spPr bwMode="auto">
          <a:xfrm>
            <a:off x="993169" y="5492261"/>
            <a:ext cx="9731204" cy="597876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20000"/>
          </a:bodyPr>
          <a:lstStyle>
            <a:lvl1pPr marL="228600" indent="-228600" algn="l" defTabSz="914400">
              <a:lnSpc>
                <a:spcPct val="120000"/>
              </a:lnSpc>
              <a:spcBef>
                <a:spcPts val="9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* в целях демонстрации AI-Агент реализован в тестовой среде. Для вывода в ПРОМ для широкого круга пользователей потребуется «инфраструктура», позволяющая «развернуть» Агента на промышленных средах и обеспечить интеграцию с промышленными системами Сбербанка. С</a:t>
            </a:r>
            <a:r>
              <a:rPr lang="ru-RU" sz="1200"/>
              <a:t>опоставимо с проектами таких крупных подразделений, как </a:t>
            </a:r>
            <a:r>
              <a:rPr lang="en-US" sz="1200"/>
              <a:t>SberData</a:t>
            </a:r>
            <a:r>
              <a:rPr lang="ru-RU" sz="1200"/>
              <a:t> и </a:t>
            </a:r>
            <a:r>
              <a:rPr lang="en-US" sz="1200"/>
              <a:t>SberUser</a:t>
            </a:r>
            <a:r>
              <a:rPr lang="ru-RU" sz="1200"/>
              <a:t>.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Видеоматериалы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67053" y="2096063"/>
            <a:ext cx="11843237" cy="3695136"/>
          </a:xfrm>
        </p:spPr>
        <p:txBody>
          <a:bodyPr/>
          <a:lstStyle/>
          <a:p>
            <a:pPr>
              <a:defRPr/>
            </a:pPr>
            <a:r>
              <a:rPr lang="ru-RU"/>
              <a:t>Ссылка на демонстрацию - </a:t>
            </a:r>
            <a:r>
              <a:rPr lang="en-US" u="sng">
                <a:hlinkClick r:id="rId2" tooltip="https://sbervideo.sberbank.ru/watch/K1JE8UzpoeDxc4u31V9"/>
              </a:rPr>
              <a:t>https://sbervideo.sberbank.ru/watch/K1JE8UzpoeDxc4u31V9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Damask">
      <a:fillStyleLst>
        <a:solidFill>
          <a:schemeClr val="phClr"/>
        </a:solidFill>
        <a:gradFill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193</TotalTime>
  <Words>868</Words>
  <Application>Microsoft Office PowerPoint</Application>
  <DocSecurity>0</DocSecurity>
  <PresentationFormat>Широкоэкранный</PresentationFormat>
  <Paragraphs>99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Bookman Old Style</vt:lpstr>
      <vt:lpstr>Calibri</vt:lpstr>
      <vt:lpstr>Rockwell</vt:lpstr>
      <vt:lpstr>SB Sans Text</vt:lpstr>
      <vt:lpstr>SB Sans Text Light</vt:lpstr>
      <vt:lpstr>SB Sans Text Semibold</vt:lpstr>
      <vt:lpstr>Damask</vt:lpstr>
      <vt:lpstr>AI-ассистент для поиска знаний в СберЧате</vt:lpstr>
      <vt:lpstr>Чек лист защиты агента</vt:lpstr>
      <vt:lpstr>Коротко о главном</vt:lpstr>
      <vt:lpstr>Как это работает</vt:lpstr>
      <vt:lpstr>Что сейчас «умеет» ai-агент</vt:lpstr>
      <vt:lpstr>Какие есть проблемы у MVP</vt:lpstr>
      <vt:lpstr>Что хочется реализовать еще</vt:lpstr>
      <vt:lpstr>Стоимость и выгода</vt:lpstr>
      <vt:lpstr>Трудозатраты</vt:lpstr>
      <vt:lpstr>Видеоматериалы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AI-ассистент для поиска знаний в СберЧате</dc:title>
  <dc:subject/>
  <dc:creator>Павленко Максим Юрьевич</dc:creator>
  <cp:keywords/>
  <dc:description/>
  <cp:lastModifiedBy>Павленко Максим Юрьевич</cp:lastModifiedBy>
  <cp:revision>43</cp:revision>
  <dcterms:created xsi:type="dcterms:W3CDTF">2025-06-18T07:47:29Z</dcterms:created>
  <dcterms:modified xsi:type="dcterms:W3CDTF">2025-07-03T12:03:23Z</dcterms:modified>
  <cp:category/>
  <dc:identifier/>
  <cp:contentStatus/>
  <dc:language/>
  <cp:version/>
</cp:coreProperties>
</file>